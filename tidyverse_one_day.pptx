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5029200" cy="502920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3B9BD6"/>
          </a:solidFill>
          <a:ln w="12700">
            <a:solidFill>
              <a:srgbClr val="3B9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4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التعامل مع البيانات باستخدام tidyverse</a:t>
            </a:r>
            <a:endParaRPr lang="ar-SA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يوم واحد (8 ساعات) · المستوى المتوسط</a:t>
            </a:r>
            <a:endParaRPr lang="ar-SA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120640"/>
            <a:ext cx="8229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نايف العتيبي · الهيئة العامة للإحصاء</a:t>
            </a:r>
            <a:endParaRPr lang="ar-SA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669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readr · dplyr · tidyr · stringr · forcats · lubridate · purrr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أجندة اليوم (09:00 – 17:00)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0292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6858000"/>
              </a:tblGrid>
              <a:tr h="4114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الوقت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الوحدة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الموضوع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09:00 – 09:30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الافتتاح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لماذا tidyverse؟ الأنبوب، tibble، سير العمل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 – 10:30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الوحدة 1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قراءة البيانات والأفعال الأساسية في dplyr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10:30 – 10:45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استراحة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10:45 – 12:00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الوحدة 2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dplyr المتقدم: across و .by ودوال النوافذ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12:00 – 13:00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غداء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13:00 – 14:00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الوحدة 3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تنظيم البيانات باستخدام tidyr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14:00 – 14:45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الوحدة 4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ربط الجداول: المفاتيح و join_by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14:45 – 15:00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استراحة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15:00 – 15:45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الوحدة 5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النصوص والعوامل والتواريخ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15:45 – 16:30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الوحدة 6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التكرار والدوال باستخدام purrr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16:30 – 17:00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الختام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مشروع ختامي ومراجعة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أهداف الدورة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1188720"/>
            <a:ext cx="740664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قراءة البيانات بشكل صحيح والتحكم في أنواع الأعمدة باستخدام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readr</a:t>
            </a:r>
            <a:endParaRPr lang="ar-SA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سلاسل تحويل كاملة بأفعال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dplyr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بما فيها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across()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.by</a:t>
            </a:r>
            <a:endParaRPr lang="ar-SA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استخدام دوال النوافذ (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cumsum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min_rank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داخل المجموعات</a:t>
            </a:r>
            <a:endParaRPr lang="ar-SA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التحويل بين الشكل الطويل والعريض ومعالجة القيم المفقودة ضمنياً</a:t>
            </a:r>
            <a:endParaRPr lang="ar-SA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الجداول بأمان والتحقق من المفاتيح والربط بالشروط</a:t>
            </a:r>
            <a:endParaRPr lang="ar-SA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تنظيف النصوص والعوامل والتواريخ بـ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stringr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forcats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lubridate</a:t>
            </a:r>
            <a:endParaRPr lang="ar-SA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تكرار العمليات وكتابة دوال قابلة لإعادة الاستخدام بـ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purrr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tidy evaluation</a:t>
            </a:r>
            <a:endParaRPr lang="ar-SA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383280" cy="4846320"/>
          </a:xfrm>
          <a:prstGeom prst="roundRect">
            <a:avLst>
              <a:gd name="adj" fmla="val 2703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المتطلبات</a:t>
            </a:r>
            <a:endParaRPr lang="ar-SA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310896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إصدار 4.1 أو أحدث و RStudio</a:t>
            </a:r>
            <a:endParaRPr lang="ar-SA" sz="13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إصدار 2.0 أو أحدث</a:t>
            </a:r>
            <a:endParaRPr lang="ar-SA" sz="13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مجلد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المرفق</a:t>
            </a:r>
            <a:endParaRPr lang="ar-SA" sz="13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التمارين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exercises/tidyverse_one_day_exercises.Rmd</a:t>
            </a:r>
            <a:endParaRPr lang="ar-SA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475488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4828032"/>
            <a:ext cx="2889504" cy="95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install.packages("tidyverse")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library(tidyverse)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5486400"/>
            <a:ext cx="7406640" cy="640080"/>
          </a:xfrm>
          <a:prstGeom prst="roundRect">
            <a:avLst>
              <a:gd name="adj" fmla="val 11429"/>
            </a:avLst>
          </a:prstGeom>
          <a:solidFill>
            <a:srgbClr val="FFF1EA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5486400"/>
            <a:ext cx="72237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400" dirty="0">
                <a:solidFill>
                  <a:srgbClr val="9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الدورة عملية: كل وحدة تنتهي بتمرين مؤقت ينفذه المتدرب على جهازه.</a:t>
            </a:r>
            <a:endParaRPr lang="ar-SA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اليوم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flights.csv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51663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336,776 رحلة من مطارات نيويورك الثلاثة في 2013. 19 عموداً: الوقت، التأخير، الشركة، الوجهة.</a:t>
            </a:r>
            <a:endParaRPr lang="ar-SA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389888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airlines.csv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828800"/>
            <a:ext cx="51663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شركة طيران: الرمز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والاسم الكامل. جدول مرجعي للربط.</a:t>
            </a:r>
            <a:endParaRPr lang="ar-SA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767328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gapminder.csv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06240"/>
            <a:ext cx="51663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 دولة بالشكل العريض: 36 عموداً لسنوات ومقاييس مختلفة. مثال tidyr.</a:t>
            </a:r>
            <a:endParaRPr lang="ar-SA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65760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3767328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riskfactors.csv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206240"/>
            <a:ext cx="51663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مسح صحي لـ 245 شخصاً به قيم مفقودة كثيرة. مثال rowwise و across.</a:t>
            </a:r>
            <a:endParaRPr lang="ar-SA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الملفات في مجلد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pPr algn="r" indent="0" marL="0">
              <a:buNone/>
            </a:pPr>
            <a:r>
              <a:rPr lang="ar-SA" alt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داخل مشروع الدورة.</a:t>
            </a:r>
            <a:endParaRPr lang="ar-S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280160"/>
            <a:ext cx="2194560" cy="219456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0" y="12801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الافتتاح</a:t>
            </a:r>
            <a:endParaRPr lang="ar-SA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tidyverse؟</a:t>
            </a:r>
            <a:endParaRPr lang="ar-SA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2926080" cy="640080"/>
          </a:xfrm>
          <a:prstGeom prst="roundRect">
            <a:avLst>
              <a:gd name="adj" fmla="val 50000"/>
            </a:avLst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– 09:30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tidyverse؟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مجموعة حزم تشترك في فلسفة واحدة: البيانات المنظمة + دوال بسيطة تتركب معاً</a:t>
            </a:r>
            <a:endParaRPr lang="ar-SA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470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قراءة وكتابة الملفات النصية</a:t>
            </a:r>
            <a:endParaRPr lang="ar-SA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8470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tibble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إطار بيانات حديث</a:t>
            </a:r>
            <a:endParaRPr lang="ar-SA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8470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dplyr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البيانات</a:t>
            </a:r>
            <a:endParaRPr lang="ar-SA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17373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52560" y="18470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tidyr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تنظيم شكل البيانات</a:t>
            </a:r>
            <a:endParaRPr lang="ar-SA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7673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206240"/>
            <a:ext cx="2377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معالجة النصوص</a:t>
            </a:r>
            <a:endParaRPr lang="ar-SA" sz="1300" dirty="0"/>
          </a:p>
        </p:txBody>
      </p:sp>
      <p:sp>
        <p:nvSpPr>
          <p:cNvPr id="20" name="Shape 18"/>
          <p:cNvSpPr/>
          <p:nvPr/>
        </p:nvSpPr>
        <p:spPr>
          <a:xfrm>
            <a:off x="3337560" y="36576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37673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forcats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4206240"/>
            <a:ext cx="2377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العوامل (factors)</a:t>
            </a:r>
            <a:endParaRPr lang="ar-SA" sz="1300" dirty="0"/>
          </a:p>
        </p:txBody>
      </p:sp>
      <p:sp>
        <p:nvSpPr>
          <p:cNvPr id="23" name="Shape 21"/>
          <p:cNvSpPr/>
          <p:nvPr/>
        </p:nvSpPr>
        <p:spPr>
          <a:xfrm>
            <a:off x="6126480" y="36576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37673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lubridate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4206240"/>
            <a:ext cx="2377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التواريخ والأوقات</a:t>
            </a:r>
            <a:endParaRPr lang="ar-SA" sz="1300" dirty="0"/>
          </a:p>
        </p:txBody>
      </p:sp>
      <p:sp>
        <p:nvSpPr>
          <p:cNvPr id="26" name="Shape 24"/>
          <p:cNvSpPr/>
          <p:nvPr/>
        </p:nvSpPr>
        <p:spPr>
          <a:xfrm>
            <a:off x="8915400" y="36576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52560" y="37673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purrr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4206240"/>
            <a:ext cx="2377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البرمجة الوظيفية والتكرار</a:t>
            </a:r>
            <a:endParaRPr lang="ar-SA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الدوال تأخذ إطار البيانات كأول معامل وتعيد إطار بيانات، وهذا ما يجعل الأنبوب ممكناً.</a:t>
            </a:r>
            <a:endParaRPr lang="ar-SA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الأنبوب: %&gt;% و |&gt;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بدون أنبوب</a:t>
            </a:r>
            <a:endParaRPr lang="ar-SA" sz="1600" dirty="0"/>
          </a:p>
        </p:txBody>
      </p:sp>
      <p:sp>
        <p:nvSpPr>
          <p:cNvPr id="5" name="Shape 3"/>
          <p:cNvSpPr/>
          <p:nvPr/>
        </p:nvSpPr>
        <p:spPr>
          <a:xfrm>
            <a:off x="6217920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27648" y="1673352"/>
            <a:ext cx="5175504" cy="1865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arrange(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group_by(flights, carrier),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n()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desc(n)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الأنبوب</a:t>
            </a:r>
            <a:endParaRPr lang="ar-SA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673352"/>
            <a:ext cx="5175504" cy="1865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group_by(carrier) %&gt;%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summarise(n = n()) %&gt;%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arrange(desc(n))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31920"/>
            <a:ext cx="1106424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6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%&gt;%</a:t>
            </a:r>
            <a:pPr algn="r" indent="0" marL="0">
              <a:buNone/>
            </a:pPr>
            <a:r>
              <a:rPr lang="ar-SA" alt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من حزمة magrittr (تأتي مع tidyverse)</a:t>
            </a:r>
            <a:endParaRPr lang="ar-SA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6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|&gt;</a:t>
            </a:r>
            <a:pPr algn="r" indent="0" marL="0">
              <a:buNone/>
            </a:pPr>
            <a:r>
              <a:rPr lang="ar-SA" alt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الأنبوب الأصلي في R منذ الإصدار 4.1، أسرع ولا يحتاج حزمة</a:t>
            </a:r>
            <a:endParaRPr lang="ar-SA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الفرق العملي: مع </a:t>
            </a:r>
            <a:pPr algn="r" indent="0" marL="0">
              <a:buNone/>
            </a:pPr>
            <a:r>
              <a:rPr lang="ar-SA" altLang="en-US" sz="16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|&gt;</a:t>
            </a:r>
            <a:pPr algn="r" indent="0" marL="0">
              <a:buNone/>
            </a:pPr>
            <a:r>
              <a:rPr lang="ar-SA" alt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استخدم </a:t>
            </a:r>
            <a:pPr algn="r" indent="0" marL="0">
              <a:buNone/>
            </a:pPr>
            <a:r>
              <a:rPr lang="ar-SA" altLang="en-US" sz="16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\(x)</a:t>
            </a:r>
            <a:pPr algn="r" indent="0" marL="0">
              <a:buNone/>
            </a:pPr>
            <a:r>
              <a:rPr lang="ar-SA" alt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بدلاً من </a:t>
            </a:r>
            <a:pPr algn="r" indent="0" marL="0">
              <a:buNone/>
            </a:pPr>
            <a:r>
              <a:rPr lang="ar-SA" altLang="en-US" sz="16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r" indent="0" marL="0">
              <a:buNone/>
            </a:pPr>
            <a:r>
              <a:rPr lang="ar-SA" alt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للإشارة للمعامل</a:t>
            </a:r>
            <a:endParaRPr lang="ar-SA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الشرائح نستخدم </a:t>
            </a:r>
            <a:pPr algn="r" indent="0" marL="0">
              <a:buNone/>
            </a:pPr>
            <a:r>
              <a:rPr lang="ar-SA" altLang="en-US" sz="16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%&gt;%</a:t>
            </a:r>
            <a:pPr algn="r" indent="0" marL="0">
              <a:buNone/>
            </a:pPr>
            <a:r>
              <a:rPr lang="ar-SA" alt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والنتيجة واحدة</a:t>
            </a:r>
            <a:endParaRPr lang="ar-SA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tibble مقابل data.frame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3072384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3291840" cy="4114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يطبع أول 10 صفوف فقط ويبين نوع كل عمود</a:t>
            </a:r>
            <a:endParaRPr lang="ar-SA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يحول النصوص إلى عوامل ولا يغير أسماء الأعمدة</a:t>
            </a:r>
            <a:endParaRPr lang="ar-SA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glimpse()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لعرض سريع لكل الأعمدة</a:t>
            </a:r>
            <a:endParaRPr lang="ar-SA" sz="1400" dirty="0"/>
          </a:p>
        </p:txBody>
      </p:sp>
      <p:sp>
        <p:nvSpPr>
          <p:cNvPr id="7" name="Shape 5"/>
          <p:cNvSpPr/>
          <p:nvPr/>
        </p:nvSpPr>
        <p:spPr>
          <a:xfrm>
            <a:off x="4023360" y="1188720"/>
            <a:ext cx="7589520" cy="5029200"/>
          </a:xfrm>
          <a:prstGeom prst="roundRect">
            <a:avLst>
              <a:gd name="adj" fmla="val 1455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33088" y="1261872"/>
            <a:ext cx="7370064" cy="4882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336,776 x 9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year month   day dep_time sched_dep_time dep_delay carrier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&lt;dbl&gt; &lt;dbl&gt; &lt;dbl&gt;    &lt;dbl&gt;          &lt;dbl&gt;     &lt;dbl&gt; &lt;chr&gt;  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2013     1     1      517            515         2 UA     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2013     1     1      533            529         4 UA     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2013     1     1      542            540         2 AA     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2013     1     1      544            545        -1 B6     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2013     1     1      554            600        -6 DL     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2013     1     1      554            558        -4 UA     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336,770 more rows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2 more variables: origin &lt;chr&gt;, dest &lt;chr&gt;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280160"/>
            <a:ext cx="2194560" cy="219456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0" y="12801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1</a:t>
            </a:r>
            <a:endParaRPr lang="ar-SA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قراءة البيانات والأفعال الأساسية</a:t>
            </a:r>
            <a:endParaRPr lang="ar-SA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2926080" cy="640080"/>
          </a:xfrm>
          <a:prstGeom prst="roundRect">
            <a:avLst>
              <a:gd name="adj" fmla="val 50000"/>
            </a:avLst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09:30 – 10:30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قراءة البيانات باستخدام readr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10844784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&lt;- read_csv("data/flights.csv")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readr يخمن نوع كل عمود من أول 1000 صف. تحقق دائماً من التخمين:</a:t>
            </a:r>
            <a:endParaRPr lang="ar-SA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633472"/>
            <a:ext cx="3803904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problems(flights)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glimpse(flights)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560320"/>
            <a:ext cx="6858000" cy="3657600"/>
          </a:xfrm>
          <a:prstGeom prst="roundRect">
            <a:avLst>
              <a:gd name="adj" fmla="val 2000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4608" y="2633472"/>
            <a:ext cx="6638544" cy="351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0 x 5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5 variables: row &lt;int&gt;, col &lt;int&gt;, expected &lt;chr&gt;,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actual &lt;chr&gt;, file &lt;chr&gt;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Rows: 336,776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Columns: 10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year      &lt;dbl&gt; 2013, 2013, 2013, 2013, 2013, 2013, 2013, ~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month     &lt;dbl&gt; 1, 1, 1, 1, 1, 1, 1, 1, 1, 1, 1, 1, 1, 1, ~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day       &lt;dbl&gt; 1, 1, 1, 1, 1, 1, 1, 1, 1, 1, 1, 1, 1, 1, ~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dep_time  &lt;dbl&gt; 517, 533, 542, 544, 554, 554, 555, 557, 55~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dep_delay &lt;dbl&gt; 2, 4, 2, -1, -6, -4, -5, -3, -3, -2, -2, -~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carrier   &lt;chr&gt; "UA", "UA", "AA", "B6", "DL", "UA", "B6", ~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flight    &lt;dbl&gt; 1545, 1714, 1141, 725, 461, 1696, 507, 570~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origin    &lt;chr&gt; "EWR", "LGA", "JFK", "JFK", "LGA", "EWR", ~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dest      &lt;chr&gt; "IAH", "IAH", "MIA", "BQN", "ATL", "ORD", ~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time_hour &lt;dttm&gt; 2013-01-01 10:00:00, 2013-01-01 10:00:00,~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1EA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65760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glimpse()</a:t>
            </a:r>
            <a:pPr algn="r" indent="0" marL="0">
              <a:buNone/>
            </a:pPr>
            <a:r>
              <a:rPr lang="ar-SA" altLang="en-US" sz="1400" dirty="0">
                <a:solidFill>
                  <a:srgbClr val="9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يعرض كل الأعمدة مع أنواعها وأول القيم: أول ما تفعله بعد القراءة.</a:t>
            </a:r>
            <a:endParaRPr lang="ar-SA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التحكم في أنواع الأعمدة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4901184" cy="2779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&lt;- read_csv(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"data/flights.csv",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col_types = cols(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.default  = col_guess(),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carrier   = col_character(),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flight    = col_character(),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time_hour = col_datetime()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 = c("", "NA")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188720"/>
            <a:ext cx="5760720" cy="4937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spec(flights)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يعرض المواصفات التي خمنها readr لنسخها وتعديلها</a:t>
            </a:r>
            <a:endParaRPr lang="ar-SA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col_types = "ccdd"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صيغة مختصرة (c نص، d رقم، i صحيح، l منطقي، D تاريخ)</a:t>
            </a:r>
            <a:endParaRPr lang="ar-SA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= c("", "NA", "-", "N/A")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لتحديد ما يعتبر قيمة مفقودة</a:t>
            </a:r>
            <a:endParaRPr lang="ar-SA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read_csv2()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للملفات التي تستخدم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كفاصل و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للكسور</a:t>
            </a:r>
            <a:endParaRPr lang="ar-SA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read_delim(delim = "|")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لأي فاصل آخر</a:t>
            </a:r>
            <a:endParaRPr lang="ar-SA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locale(encoding = "windows-1256")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للملفات العربية القديمة</a:t>
            </a:r>
            <a:endParaRPr lang="ar-SA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write_csv()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للحفظ، و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write_rds()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لحفظ الكائن بأنواعه</a:t>
            </a:r>
            <a:endParaRPr lang="ar-SA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سريعة: الأفعال الأساسية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329184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5760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الفعل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يعمل على</a:t>
                      </a:r>
                      <a:endParaRPr lang="ar-SA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السؤال الذي يجيب عنه</a:t>
                      </a:r>
                      <a:endParaRPr lang="ar-SA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5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filter()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الصفوف</a:t>
                      </a:r>
                      <a:endParaRPr lang="ar-SA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أي المشاهدات أحتاج؟</a:t>
                      </a:r>
                      <a:endParaRPr lang="ar-SA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5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arrange()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الصفوف</a:t>
                      </a:r>
                      <a:endParaRPr lang="ar-SA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بأي ترتيب؟</a:t>
                      </a:r>
                      <a:endParaRPr lang="ar-SA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5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الأعمدة</a:t>
                      </a:r>
                      <a:endParaRPr lang="ar-SA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أي المتغيرات؟</a:t>
                      </a:r>
                      <a:endParaRPr lang="ar-SA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5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mutate()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الأعمدة</a:t>
                      </a:r>
                      <a:endParaRPr lang="ar-SA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كيف أنشئ متغيراً جديداً؟</a:t>
                      </a:r>
                      <a:endParaRPr lang="ar-SA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5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summarise()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المجموعات</a:t>
                      </a:r>
                      <a:endParaRPr lang="ar-SA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ما ملخص كل مجموعة؟</a:t>
                      </a:r>
                      <a:endParaRPr lang="ar-SA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5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group_by() / .by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المجموعات</a:t>
                      </a:r>
                      <a:endParaRPr lang="ar-SA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ما هي المجموعات؟</a:t>
                      </a:r>
                      <a:endParaRPr lang="ar-SA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463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1EA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846320"/>
            <a:ext cx="10881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400" dirty="0">
                <a:solidFill>
                  <a:srgbClr val="9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المستوى المتوسط يعني: تعرف هذه الأفعال. اليوم نركز على تركيبها معاً وعلى الأدوات التي حولها.</a:t>
            </a:r>
            <a:endParaRPr lang="ar-SA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سلسلة تحويل كاملة: أسرع رحلات الصيف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696974"/>
          </a:xfrm>
          <a:prstGeom prst="roundRect">
            <a:avLst>
              <a:gd name="adj" fmla="val 431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10844784" cy="1550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5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550" dirty="0"/>
          </a:p>
          <a:p>
            <a:pPr algn="l" indent="0" marL="0">
              <a:buNone/>
            </a:pPr>
            <a:r>
              <a:rPr lang="en-US" altLang="en-US" sz="15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filter(!is.na(dep_delay), month %in% 6:8) %&gt;%</a:t>
            </a:r>
            <a:endParaRPr lang="en-US" sz="1550" dirty="0"/>
          </a:p>
          <a:p>
            <a:pPr algn="l" indent="0" marL="0">
              <a:buNone/>
            </a:pPr>
            <a:r>
              <a:rPr lang="en-US" altLang="en-US" sz="15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select(month, day, carrier, origin, dest,</a:t>
            </a:r>
            <a:endParaRPr lang="en-US" sz="1550" dirty="0"/>
          </a:p>
          <a:p>
            <a:pPr algn="l" indent="0" marL="0">
              <a:buNone/>
            </a:pPr>
            <a:r>
              <a:rPr lang="en-US" altLang="en-US" sz="15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dep_delay, air_time, distance) %&gt;%</a:t>
            </a:r>
            <a:endParaRPr lang="en-US" sz="1550" dirty="0"/>
          </a:p>
          <a:p>
            <a:pPr algn="l" indent="0" marL="0">
              <a:buNone/>
            </a:pPr>
            <a:r>
              <a:rPr lang="en-US" altLang="en-US" sz="15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mutate(speed_kmh = distance * 1.609 / (air_time / 60)) %&gt;%</a:t>
            </a:r>
            <a:endParaRPr lang="en-US" sz="1550" dirty="0"/>
          </a:p>
          <a:p>
            <a:pPr algn="l" indent="0" marL="0">
              <a:buNone/>
            </a:pPr>
            <a:r>
              <a:rPr lang="en-US" altLang="en-US" sz="15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arrange(desc(speed_kmh))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3068574"/>
            <a:ext cx="11064240" cy="2386457"/>
          </a:xfrm>
          <a:prstGeom prst="roundRect">
            <a:avLst>
              <a:gd name="adj" fmla="val 3065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141726"/>
            <a:ext cx="10844784" cy="2240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84,560 x 9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month   day carrier origin dest  dep_delay air_time distance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&lt;dbl&gt; &lt;dbl&gt; &lt;chr&gt;   &lt;chr&gt;  &lt;chr&gt;     &lt;dbl&gt;    &lt;dbl&gt;    &lt;dbl&gt;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7     2 EV      EWR    MSP          45       93     1008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7    12 AA      JFK    LAX         148      277     2475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7    14 UA      EWR    SNA          48      274     2434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 8    27 UA      JFK    LAX          27      279     2475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   7    15 UA      JFK    LAX         -10      280     2475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   7    14 DL      JFK    PHX         203      244     2153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84,554 more rows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1 more variable: speed_kmh &lt;dbl&gt;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التلخيص حسب المجموعة: نسبة الرحلات المتأخرة لكل شركة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852160" cy="1929384"/>
          </a:xfrm>
          <a:prstGeom prst="roundRect">
            <a:avLst>
              <a:gd name="adj" fmla="val 379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632704" cy="1783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group_by(carrier) %&gt;%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         = n(),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mean_delay = mean(dep_delay, na.rm = TRUE),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p_late     = mean(dep_delay &gt; 15, na.rm = TRUE)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%&gt;%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arrange(desc(p_late))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0" y="1188720"/>
            <a:ext cx="5029200" cy="2347722"/>
          </a:xfrm>
          <a:prstGeom prst="roundRect">
            <a:avLst>
              <a:gd name="adj" fmla="val 3116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93408" y="1261872"/>
            <a:ext cx="4809744" cy="2201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16 x 4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carrier     n mean_delay p_late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 &lt;int&gt;      &lt;dbl&gt;  &lt;dbl&gt;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EV      54173       20.0  0.305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YV        601       19.0  0.286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F9        685       20.2  0.282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WN      12275       17.7  0.269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FL       3260       18.7  0.267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9E      18460       16.7  0.257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10 more rows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count() و distinct() و slice_*()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175504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count(origin, dest, sort = TRUE)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176272"/>
            <a:ext cx="5175504" cy="1865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224 x 3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 dest      n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&lt;chr&gt; &lt;int&gt;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JFK    LAX   11262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LGA    ATL   10263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LGA    ORD    8857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JFK    SFO    8204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LGA    CLT    6168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EWR    ORD    6100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218 more rows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4279392"/>
            <a:ext cx="5175504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slice_max(dep_delay, n = 3)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select(month, day, carrier, dest, dep_delay)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5285232"/>
            <a:ext cx="5175504" cy="95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3 x 5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month   day carrier dest  dep_delay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&lt;dbl&gt; &lt;dbl&gt; &lt;chr&gt;   &lt;chr&gt;     &lt;dbl&gt;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1     9 HA      HNL        1301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6    15 MQ      CMH        1137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1    10 MQ      ORD        1126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188720"/>
            <a:ext cx="5486400" cy="5029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count(x, y, sort = TRUE)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تختصر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group_by() %&gt;% summarise(n = n())</a:t>
            </a:r>
            <a:endParaRPr lang="ar-SA" sz="1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count(x, wt = distance)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لجمع عمود بدل عد الصفوف</a:t>
            </a:r>
            <a:endParaRPr lang="ar-SA" sz="1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distinct(x, y)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القيم الفريدة، و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.keep_all = TRUE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تحتفظ ببقية الأعمدة</a:t>
            </a:r>
            <a:endParaRPr lang="ar-SA" sz="1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slice_head()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slice_tail()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slice_max()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slice_min()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slice_sample()</a:t>
            </a:r>
            <a:endParaRPr lang="ar-SA" sz="1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slice_max(dep_delay, n = 1, by = carrier)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أكبر قيمة داخل كل مجموعة</a:t>
            </a:r>
            <a:endParaRPr lang="ar-SA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التصنيف الشرطي: case_when() و if_else()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852160" cy="2890012"/>
          </a:xfrm>
          <a:prstGeom prst="roundRect">
            <a:avLst>
              <a:gd name="adj" fmla="val 253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632704" cy="2743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mutate(delay_cat = case_when(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is.na(dep_delay) ~ "cancelled",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dep_delay &lt;= 0   ~ "on time",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dep_delay &lt;= 15  ~ "minor",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dep_delay &lt;= 60  ~ "moderate",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.default         = "severe"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)) %&gt;%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count(delay_cat) %&gt;%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mutate(prop = n / sum(n))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0" y="1188720"/>
            <a:ext cx="5029200" cy="1929384"/>
          </a:xfrm>
          <a:prstGeom prst="roundRect">
            <a:avLst>
              <a:gd name="adj" fmla="val 3791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93408" y="1261872"/>
            <a:ext cx="4809744" cy="1783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5 x 3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delay_cat      n  prop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    &lt;int&gt; &lt;dbl&gt;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cancelled   8255 0.025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minor      57658 0.171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moderate   44193 0.131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on time   200089 0.594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severe     26581 0.079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الشروط تقيَّم بالترتيب: أول شرط صحيح يفوز.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if_else()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أكثر صرامة من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ifelse()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النوعان يجب أن يتطابقا.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case_match()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للمطابقة بالقيم.</a:t>
            </a:r>
            <a:endParaRPr lang="ar-SA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0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57200"/>
            <a:ext cx="1005840" cy="1005840"/>
          </a:xfrm>
          <a:prstGeom prst="ellipse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42416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3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تمرين 1</a:t>
            </a:r>
            <a:endParaRPr lang="ar-SA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15 دقيقة · القسم الأول من ملف التمارين</a:t>
            </a:r>
            <a:endParaRPr lang="ar-SA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B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0" y="2075688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57400"/>
            <a:ext cx="96926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data/flights.csv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مع تحديد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كنص و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time_hour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كتاريخ ووقت، وتحقق بـ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problems()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glimpse()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ar-SA" sz="1700" dirty="0"/>
          </a:p>
        </p:txBody>
      </p:sp>
      <p:sp>
        <p:nvSpPr>
          <p:cNvPr id="10" name="Shape 8"/>
          <p:cNvSpPr/>
          <p:nvPr/>
        </p:nvSpPr>
        <p:spPr>
          <a:xfrm>
            <a:off x="10698480" y="3026664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008376"/>
            <a:ext cx="9692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أكثر 5 وجهات تأخراً في الوصول (متوسط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arr_delay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بشرط 1000 رحلة على الأقل؟</a:t>
            </a:r>
            <a:endParaRPr lang="ar-SA" sz="1700" dirty="0"/>
          </a:p>
        </p:txBody>
      </p:sp>
      <p:sp>
        <p:nvSpPr>
          <p:cNvPr id="13" name="Shape 11"/>
          <p:cNvSpPr/>
          <p:nvPr/>
        </p:nvSpPr>
        <p:spPr>
          <a:xfrm>
            <a:off x="10698480" y="3685032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666744"/>
            <a:ext cx="96926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صنف الرحلات حسب المسافة إلى short (&lt; 500) و medium (&lt; 1500) و long، واحسب عدد الرحلات ومتوسط التأخير لكل فئة.</a:t>
            </a:r>
            <a:endParaRPr lang="ar-SA" sz="1700" dirty="0"/>
          </a:p>
        </p:txBody>
      </p:sp>
      <p:sp>
        <p:nvSpPr>
          <p:cNvPr id="16" name="Shape 14"/>
          <p:cNvSpPr/>
          <p:nvPr/>
        </p:nvSpPr>
        <p:spPr>
          <a:xfrm>
            <a:off x="10698480" y="4636008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0" y="4636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17720"/>
            <a:ext cx="9692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إضافي: ما نسبة الرحلات الملغاة (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dep_time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مفقود) لكل مطار انطلاق؟</a:t>
            </a:r>
            <a:endParaRPr lang="ar-SA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ar-SA" alt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استراحة</a:t>
            </a:r>
            <a:endParaRPr lang="ar-SA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ar-SA" altLang="en-US" sz="2800" b="1" dirty="0">
                <a:solidFill>
                  <a:srgbClr val="F2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 – 10:45</a:t>
            </a:r>
            <a:endParaRPr lang="ar-SA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F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280160"/>
            <a:ext cx="2194560" cy="219456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0" y="12801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2</a:t>
            </a:r>
            <a:endParaRPr lang="ar-SA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dplyr المتقدم: across و .by ودوال النوافذ</a:t>
            </a:r>
            <a:endParaRPr lang="ar-SA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2926080" cy="640080"/>
          </a:xfrm>
          <a:prstGeom prst="roundRect">
            <a:avLst>
              <a:gd name="adj" fmla="val 50000"/>
            </a:avLst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10:45 – 12:00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across(): تطبيق دالة على عدة أعمدة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بدلاً من تكرار السطر لكل عمود:</a:t>
            </a:r>
            <a:endParaRPr lang="ar-SA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15544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27648" y="1627632"/>
            <a:ext cx="5175504" cy="1682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dep_delay = mean(dep_delay, na.rm = TRUE),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arr_delay = mean(arr_delay, na.rm = TRUE),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air_time  = mean(air_time,  na.rm = TRUE)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627632"/>
            <a:ext cx="5175504" cy="1682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across(c(dep_delay, arr_delay, air_time),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\(x) mean(x, na.rm = TRUE))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639312"/>
            <a:ext cx="5175504" cy="10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1 x 3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dep_delay arr_delay air_time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&lt;dbl&gt;     &lt;dbl&gt;    &lt;dbl&gt;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1      12.6      6.90     151.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3566160"/>
            <a:ext cx="539496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الوسيط الأول: الأعمدة (tidy-select)</a:t>
            </a:r>
            <a:endParaRPr lang="ar-SA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الوسيط الثاني: دالة أو قائمة دوال</a:t>
            </a:r>
            <a:endParaRPr lang="ar-SA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.names = "{.col}_{.fn}"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للتحكم في أسماء الأعمدة الناتجة</a:t>
            </a:r>
            <a:endParaRPr lang="ar-SA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تعمل داخل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mutate()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filter(if_any())</a:t>
            </a:r>
            <a:endParaRPr lang="ar-SA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across() مع أكثر من دالة واختيار الأعمدة بالنمط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2642108"/>
          </a:xfrm>
          <a:prstGeom prst="roundRect">
            <a:avLst>
              <a:gd name="adj" fmla="val 2769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10844784" cy="2495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across(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ends_with("delay"),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list(mean = \(x) mean(x, na.rm = TRUE),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max  = \(x) max(x, na.rm = TRUE)),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.names = "{.col}_{.fn}"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n(),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.by = origin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013708"/>
            <a:ext cx="11064240" cy="1503299"/>
          </a:xfrm>
          <a:prstGeom prst="roundRect">
            <a:avLst>
              <a:gd name="adj" fmla="val 4866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4086860"/>
            <a:ext cx="10844784" cy="1356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3 x 6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 dep_delay_mean dep_delay_max arr_delay_mean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         &lt;dbl&gt;         &lt;dbl&gt;          &lt;dbl&gt;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EWR              15.1          1126           9.11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LGA              10.3           911           5.78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JFK              12.1          1301           5.55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2 more variables: arr_delay_max &lt;dbl&gt;, n &lt;int&gt;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مساعدات اختيار الأعمدة (tidy-select)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3200400"/>
        </p:xfrm>
        <a:graphic>
          <a:graphicData uri="http://schemas.openxmlformats.org/drawingml/2006/table">
            <a:tbl>
              <a:tblPr/>
              <a:tblGrid>
                <a:gridCol w="694944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المساعد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يختار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starts_with("dep"), ends_with("delay"), contains("time")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حسب الاسم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matches("^(dep|arr)_")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حسب تعبير نمطي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where(is.numeric)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حسب النوع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everything(), last_col()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الكل / الأخير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all_of(vars), any_of(vars)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من متجه نصي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year:day, -c(x, y), !where(is.character)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المدى / الاستبعاد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تعمل داخل </a:t>
            </a:r>
            <a:pPr algn="r" indent="0" marL="0">
              <a:buNone/>
            </a:pPr>
            <a:r>
              <a:rPr lang="ar-SA" altLang="en-US" sz="15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select()</a:t>
            </a:r>
            <a:pPr algn="r" indent="0" marL="0">
              <a:buNone/>
            </a:pPr>
            <a:r>
              <a:rPr lang="ar-SA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5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across()</a:t>
            </a:r>
            <a:pPr algn="r" indent="0" marL="0">
              <a:buNone/>
            </a:pPr>
            <a:r>
              <a:rPr lang="ar-SA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5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pivot_longer()</a:t>
            </a:r>
            <a:pPr algn="r" indent="0" marL="0">
              <a:buNone/>
            </a:pPr>
            <a:r>
              <a:rPr lang="ar-SA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5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.by</a:t>
            </a:r>
            <a:pPr algn="r" indent="0" marL="0">
              <a:buNone/>
            </a:pPr>
            <a:r>
              <a:rPr lang="ar-SA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وغيرها.</a:t>
            </a:r>
            <a:endParaRPr lang="ar-SA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5102352"/>
            <a:ext cx="10844784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 select(where(is.numeric) &amp; !contains("time")) %&gt;% names()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5742432"/>
            <a:ext cx="10844784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"year" "month" "day" "dep_delay" "arr_delay" "flight" "distance" "hour" "minute"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.by بدلاً من group_by()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1720215"/>
          </a:xfrm>
          <a:prstGeom prst="roundRect">
            <a:avLst>
              <a:gd name="adj" fmla="val 4252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266944" cy="1573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n(),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mean_delay = mean(dep_delay, na.rm = TRUE),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.by = c(origin, carrier)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%&gt;%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arrange(origin, desc(n))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394960" cy="2347722"/>
          </a:xfrm>
          <a:prstGeom prst="roundRect">
            <a:avLst>
              <a:gd name="adj" fmla="val 3116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27648" y="1261872"/>
            <a:ext cx="5175504" cy="2201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35 x 4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 carrier     n mean_delay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&lt;chr&gt;   &lt;int&gt;      &lt;dbl&gt;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EWR    UA      46087      12.5 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EWR    EV      43939      20.2 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EWR    B6       6557      13.1 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EWR    WN       6188      17.9 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EWR    US       4405       3.74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EWR    DL       4342      12.1 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29 more rows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37535"/>
            <a:ext cx="5486400" cy="317182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يعمل مع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mutate()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slice_*()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reframe()</a:t>
            </a:r>
            <a:endParaRPr lang="ar-SA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 غير مجمعة دائماً: لا حاجة لـ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ungroup()</a:t>
            </a:r>
            <a:endParaRPr lang="ar-SA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group_by()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لا يزال مفيداً عندما تريد الاحتفاظ بالتجميع لعدة خطوات</a:t>
            </a:r>
            <a:endParaRPr lang="ar-SA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mutate() داخل المجموعات: الفرق عن متوسط الشركة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669280" cy="2642108"/>
          </a:xfrm>
          <a:prstGeom prst="roundRect">
            <a:avLst>
              <a:gd name="adj" fmla="val 2769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449824" cy="2495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filter(!is.na(dep_delay)) %&gt;%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select(carrier, flight, dest, dep_delay) %&gt;%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carrier_mean    = mean(dep_delay),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diff_from_mean  = dep_delay - carrier_mean,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rank_in_carrier = min_rank(desc(dep_delay)),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.by = carrier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%&gt;%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filter(rank_in_carrier &lt;= 2) %&gt;%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arrange(carrier, rank_in_carrier)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188720"/>
            <a:ext cx="5212080" cy="1960372"/>
          </a:xfrm>
          <a:prstGeom prst="roundRect">
            <a:avLst>
              <a:gd name="adj" fmla="val 3732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0528" y="1261872"/>
            <a:ext cx="4992624" cy="1814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32 x 7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carrier flight dest  dep_delay carrier_mean diff_from_mean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  &lt;dbl&gt; &lt;chr&gt;     &lt;dbl&gt;        &lt;dbl&gt;          &lt;dbl&gt;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9E        3798 CLT         747        16.7            730.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9E        3538 MSP         430        16.7            413.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AA         177 SFO        1014         8.59          1005.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AA         172 MIA         896         8.59           887.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AS           7 SEA         225         5.80           219.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AS           7 SEA         222         5.80           216.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26 more rows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1 more variable: rank_in_carrier &lt;int&gt;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دوال النوافذ (Window functions)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تأخذ متجهاً وتعيد متجهاً بنفس الطول، وتحترم المجموعات:</a:t>
            </a:r>
            <a:endParaRPr lang="ar-SA" sz="1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219456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النوع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الدوال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الإزاحة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lag(), lead()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التراكم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cumsum(), cummean(), cummax(), cumany()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الترتيب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row_number(), min_rank(), dense_rank(), percent_rank(), ntile()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المقارنة بالمجموعة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- mean(x), x / sum(x)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06908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4142232"/>
            <a:ext cx="5266944" cy="2093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count(month, day, name = "n_flights")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mutate(prev_day  = lag(n_flights),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change    = n_flights - prev_day,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cum_month = cumsum(n_flights),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day_rank  = row_number(desc(n_flights)),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.by = month)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filter(month == 2)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406908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7648" y="4142232"/>
            <a:ext cx="5175504" cy="2093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28 x 7</a:t>
            </a:r>
            <a:endParaRPr lang="en-US" sz="950" dirty="0"/>
          </a:p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month   day n_flights prev_day change cum_month day_rank</a:t>
            </a:r>
            <a:endParaRPr lang="en-US" sz="950" dirty="0"/>
          </a:p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&lt;dbl&gt; &lt;dbl&gt;     &lt;int&gt;    &lt;int&gt;  &lt;int&gt;     &lt;int&gt;    &lt;int&gt;</a:t>
            </a:r>
            <a:endParaRPr lang="en-US" sz="950" dirty="0"/>
          </a:p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2     1       926       NA     NA       926       16</a:t>
            </a:r>
            <a:endParaRPr lang="en-US" sz="950" dirty="0"/>
          </a:p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2     2       682      926   -244      1608       28</a:t>
            </a:r>
            <a:endParaRPr lang="en-US" sz="950" dirty="0"/>
          </a:p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3     2     3       814      682    132      2422       24</a:t>
            </a:r>
            <a:endParaRPr lang="en-US" sz="950" dirty="0"/>
          </a:p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4     2     4       932      814    118      3354       12</a:t>
            </a:r>
            <a:endParaRPr lang="en-US" sz="950" dirty="0"/>
          </a:p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   2     5       896      932    -36      4250       19</a:t>
            </a:r>
            <a:endParaRPr lang="en-US" sz="950" dirty="0"/>
          </a:p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6     2     6       901      896      5      5151       18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الحصة من إجمالي رحلات كل مطار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669280" cy="1379347"/>
          </a:xfrm>
          <a:prstGeom prst="roundRect">
            <a:avLst>
              <a:gd name="adj" fmla="val 530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449824" cy="1233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count(origin, carrier) %&gt;%</a:t>
            </a: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mutate(share = n / sum(n), .by = origin) %&gt;%</a:t>
            </a: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slice_max(share, n = 3, by = origin) %&gt;%</a:t>
            </a: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arrange(origin, desc(share))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0" y="1188720"/>
            <a:ext cx="5212080" cy="2347722"/>
          </a:xfrm>
          <a:prstGeom prst="roundRect">
            <a:avLst>
              <a:gd name="adj" fmla="val 3116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0528" y="1261872"/>
            <a:ext cx="4992624" cy="2201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9 x 4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 carrier     n  share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&lt;chr&gt;   &lt;int&gt;  &lt;dbl&gt;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EWR    UA      46087 0.381 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EWR    EV      43939 0.364 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EWR    B6       6557 0.0543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JFK    B6      42076 0.378 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JFK    DL      20701 0.186 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JFK    9E      14651 0.132 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3 more rows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96667"/>
            <a:ext cx="5669280" cy="3512693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sum(n)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داخل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mutate(.by = origin)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يحسب لكل مطار على حدة، ثم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slice_max(by = origin)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يأخذ أكبر ثلاث شركات في كل مطار.</a:t>
            </a:r>
            <a:endParaRPr lang="ar-SA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rowwise() و pick() و reframe()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852160" cy="2743200"/>
          </a:xfrm>
          <a:prstGeom prst="roundRect">
            <a:avLst>
              <a:gd name="adj" fmla="val 2667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632704" cy="2596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riskfactors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select(starts_with("diet_"))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rowwise()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mutate(diet_total = sum(c_across(everything()), na.rm = TRUE))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ungroup()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faster with millions of rows: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riskfactors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mutate(diet_total = rowSums(pick(starts_with("diet_")), na.rm = TRUE))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58521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rowwise()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يجعل كل صف مجموعة؛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c_across()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يجمع الأعمدة في متجه.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يعيد الأعمدة المختارة كإطار بيانات لاستخدامها مع دوال مثل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rowSums()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ar-S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188720"/>
            <a:ext cx="5029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reframe()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مثل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summarise()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لكنه يعيد أي عدد من الصفوف لكل مجموعة:</a:t>
            </a:r>
            <a:endParaRPr lang="ar-SA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82880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93408" y="1901952"/>
            <a:ext cx="4809744" cy="1499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filter(!is.na(dep_delay))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reframe(q = c(0.5, 0.9, 0.99),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dep_delay = quantile(dep_delay, q),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.by = origin)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0" y="3611880"/>
            <a:ext cx="5029200" cy="2651760"/>
          </a:xfrm>
          <a:prstGeom prst="roundRect">
            <a:avLst>
              <a:gd name="adj" fmla="val 2759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93408" y="3685032"/>
            <a:ext cx="4809744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9 x 3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     q dep_delay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&lt;dbl&gt;     &lt;dbl&gt;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EWR     0.5         -1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EWR     0.9         57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EWR     0.99       196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LGA     0.5         -3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LGA     0.9         43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LGA     0.99       193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3 more rows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AF0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57200"/>
            <a:ext cx="1005840" cy="1005840"/>
          </a:xfrm>
          <a:prstGeom prst="ellipse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42416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3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تمرين 2</a:t>
            </a:r>
            <a:endParaRPr lang="ar-SA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20 دقيقة · القسم الثاني من ملف التمارين</a:t>
            </a:r>
            <a:endParaRPr lang="ar-SA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B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0" y="2075688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57400"/>
            <a:ext cx="96926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شركة طيران احسب المتوسط والوسيط والانحراف المعياري لـ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dep_delay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arr_delay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باستخدام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across()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مع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.names = "{.col}_{.fn}"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ar-SA" sz="1700" dirty="0"/>
          </a:p>
        </p:txBody>
      </p:sp>
      <p:sp>
        <p:nvSpPr>
          <p:cNvPr id="10" name="Shape 8"/>
          <p:cNvSpPr/>
          <p:nvPr/>
        </p:nvSpPr>
        <p:spPr>
          <a:xfrm>
            <a:off x="10698480" y="3026664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008376"/>
            <a:ext cx="96926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مطار انطلاق ويوم في السنة احسب عدد الرحلات، ثم أضف الفرق عن اليوم السابق ورتبة اليوم داخل الشهر.</a:t>
            </a:r>
            <a:endParaRPr lang="ar-SA" sz="1700" dirty="0"/>
          </a:p>
        </p:txBody>
      </p:sp>
      <p:sp>
        <p:nvSpPr>
          <p:cNvPr id="13" name="Shape 11"/>
          <p:cNvSpPr/>
          <p:nvPr/>
        </p:nvSpPr>
        <p:spPr>
          <a:xfrm>
            <a:off x="10698480" y="3977640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959352"/>
            <a:ext cx="9692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وجهة أوجد الشركة صاحبة أكبر حصة من الرحلات ونسبتها.</a:t>
            </a:r>
            <a:endParaRPr lang="ar-SA" sz="1700" dirty="0"/>
          </a:p>
        </p:txBody>
      </p:sp>
      <p:sp>
        <p:nvSpPr>
          <p:cNvPr id="16" name="Shape 14"/>
          <p:cNvSpPr/>
          <p:nvPr/>
        </p:nvSpPr>
        <p:spPr>
          <a:xfrm>
            <a:off x="10698480" y="4636008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0" y="4636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17720"/>
            <a:ext cx="9692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إضافي: باستخدام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reframe()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أوجد الربيعات (25%, 50%, 75%) لـ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لكل مطار انطلاق.</a:t>
            </a:r>
            <a:endParaRPr lang="ar-SA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F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ar-SA" alt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غداء</a:t>
            </a:r>
            <a:endParaRPr lang="ar-SA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ar-SA" altLang="en-US" sz="2800" b="1" dirty="0">
                <a:solidFill>
                  <a:srgbClr val="F2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 – 13:00</a:t>
            </a:r>
            <a:endParaRPr lang="ar-SA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F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280160"/>
            <a:ext cx="2194560" cy="219456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0" y="12801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3</a:t>
            </a:r>
            <a:endParaRPr lang="ar-SA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تنظيم البيانات باستخدام tidyr</a:t>
            </a:r>
            <a:endParaRPr lang="ar-SA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2926080" cy="640080"/>
          </a:xfrm>
          <a:prstGeom prst="roundRect">
            <a:avLst>
              <a:gd name="adj" fmla="val 50000"/>
            </a:avLst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 – 14:00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المنظمة (Tidy data)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6400800" y="1371600"/>
            <a:ext cx="1554480" cy="502920"/>
          </a:xfrm>
          <a:prstGeom prst="rect">
            <a:avLst/>
          </a:prstGeom>
          <a:solidFill>
            <a:srgbClr val="3467B0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0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955280" y="1371600"/>
            <a:ext cx="1554480" cy="502920"/>
          </a:xfrm>
          <a:prstGeom prst="rect">
            <a:avLst/>
          </a:prstGeom>
          <a:solidFill>
            <a:srgbClr val="3467B0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09760" y="1371600"/>
            <a:ext cx="1554480" cy="502920"/>
          </a:xfrm>
          <a:prstGeom prst="rect">
            <a:avLst/>
          </a:prstGeom>
          <a:solidFill>
            <a:srgbClr val="3467B0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1554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Algeria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874520"/>
            <a:ext cx="1554480" cy="502920"/>
          </a:xfrm>
          <a:prstGeom prst="rect">
            <a:avLst/>
          </a:prstGeom>
          <a:solidFill>
            <a:srgbClr val="EAF0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0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09760" y="1874520"/>
            <a:ext cx="1554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9.3M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377440"/>
            <a:ext cx="1554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377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Algeria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2377440"/>
            <a:ext cx="1554480" cy="502920"/>
          </a:xfrm>
          <a:prstGeom prst="rect">
            <a:avLst/>
          </a:prstGeom>
          <a:solidFill>
            <a:srgbClr val="EAF0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2377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09760" y="2377440"/>
            <a:ext cx="1554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09760" y="2377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10.3M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880360"/>
            <a:ext cx="1554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2880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Angola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2880360"/>
            <a:ext cx="1554480" cy="502920"/>
          </a:xfrm>
          <a:prstGeom prst="rect">
            <a:avLst/>
          </a:prstGeom>
          <a:solidFill>
            <a:srgbClr val="EAF0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0" y="2880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09760" y="2880360"/>
            <a:ext cx="1554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09760" y="2880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4.2M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3474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34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عمود = متغير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4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 = مشاهدة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1280160"/>
            <a:ext cx="457200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متغير في عمود</a:t>
            </a:r>
            <a:endParaRPr lang="ar-SA" sz="2000" dirty="0"/>
          </a:p>
          <a:p>
            <a:pPr algn="r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مشاهدة في صف</a:t>
            </a:r>
            <a:endParaRPr lang="ar-SA" sz="2000" dirty="0"/>
          </a:p>
          <a:p>
            <a:pPr algn="r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قيمة في خلية</a:t>
            </a:r>
            <a:endParaRPr lang="ar-SA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023360"/>
            <a:ext cx="110642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لماذا؟ لأن كل دوال tidyverse (و ggplot2) تفترض هذا الشكل. وقت التنظيف يُستثمر مرة واحدة ثم يُسترد في كل خطوة بعده.</a:t>
            </a:r>
            <a:endParaRPr lang="ar-SA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ar-SA" alt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 for Data Science, ch. Tidy data</a:t>
            </a:r>
            <a:endParaRPr lang="ar-SA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هذه البيانات منظمة؟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10844784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gapminder_wide %&gt;% select(1:5) %&gt;% head(4)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names(gapminder_wide)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221992"/>
            <a:ext cx="10844784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4 x 5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continent country  gdpPercap_1952 gdpPercap_1957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   &lt;chr&gt;             &lt;dbl&gt;          &lt;dbl&gt;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Africa    Algeria           2449.          3014.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Africa    Angola            3521.          3828.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Africa    Benin             1063.           960.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Africa    Botswana           851.           918.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1 more variable: gdpPercap_1962 &lt;dbl&gt;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[1] "continent"      "country"        "gdpPercap_1952" "gdpPercap_1957"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[5] "gdpPercap_1962" "gdpPercap_1967" ...  "lifeExp_1952" ... "pop_2007"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50292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1EA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400" dirty="0">
                <a:solidFill>
                  <a:srgbClr val="9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متغيرات (gdpPercap, lifeExp, pop) وسنة (year) مخزنة في أسماء 36 عموداً.</a:t>
            </a:r>
            <a:endParaRPr lang="ar-SA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pivot_longer(): الطريقة المختصرة بـ .value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2045589"/>
          </a:xfrm>
          <a:prstGeom prst="roundRect">
            <a:avLst>
              <a:gd name="adj" fmla="val 3576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266944" cy="1899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6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gapminder_wide %&gt;%</a:t>
            </a:r>
            <a:endParaRPr lang="en-US" sz="1650" dirty="0"/>
          </a:p>
          <a:p>
            <a:pPr algn="l" indent="0" marL="0">
              <a:buNone/>
            </a:pPr>
            <a:r>
              <a:rPr lang="en-US" altLang="en-US" sz="16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pivot_longer(</a:t>
            </a:r>
            <a:endParaRPr lang="en-US" sz="1650" dirty="0"/>
          </a:p>
          <a:p>
            <a:pPr algn="l" indent="0" marL="0">
              <a:buNone/>
            </a:pPr>
            <a:r>
              <a:rPr lang="en-US" altLang="en-US" sz="16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cols      = -c(continent, country),</a:t>
            </a:r>
            <a:endParaRPr lang="en-US" sz="1650" dirty="0"/>
          </a:p>
          <a:p>
            <a:pPr algn="l" indent="0" marL="0">
              <a:buNone/>
            </a:pPr>
            <a:r>
              <a:rPr lang="en-US" altLang="en-US" sz="16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names_to  = c(".value", "year"),</a:t>
            </a:r>
            <a:endParaRPr lang="en-US" sz="1650" dirty="0"/>
          </a:p>
          <a:p>
            <a:pPr algn="l" indent="0" marL="0">
              <a:buNone/>
            </a:pPr>
            <a:r>
              <a:rPr lang="en-US" altLang="en-US" sz="16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names_sep = "_"</a:t>
            </a:r>
            <a:endParaRPr lang="en-US" sz="1650" dirty="0"/>
          </a:p>
          <a:p>
            <a:pPr algn="l" indent="0" marL="0">
              <a:buNone/>
            </a:pPr>
            <a:r>
              <a:rPr lang="en-US" altLang="en-US" sz="16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%&gt;%</a:t>
            </a:r>
            <a:endParaRPr lang="en-US" sz="1650" dirty="0"/>
          </a:p>
          <a:p>
            <a:pPr algn="l" indent="0" marL="0">
              <a:buNone/>
            </a:pPr>
            <a:r>
              <a:rPr lang="en-US" altLang="en-US" sz="16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mutate(year = as.integer(year))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394960" cy="2115312"/>
          </a:xfrm>
          <a:prstGeom prst="roundRect">
            <a:avLst>
              <a:gd name="adj" fmla="val 3458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27648" y="1261872"/>
            <a:ext cx="5175504" cy="1969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1,704 x 6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continent country  year gdpPercap lifeExp      pop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   &lt;chr&gt;   &lt;int&gt;     &lt;dbl&gt;   &lt;dbl&gt;    &lt;dbl&gt;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Africa    Algeria  1952     2449.    43.1  9279525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Africa    Algeria  1957     3014.    45.7 10270856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Africa    Algeria  1962     2551.    48.3 11000948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Africa    Algeria  1967     3247.    51.4 12760499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Africa    Algeria  1972     4183.    54.5 14760787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Africa    Algeria  1977     4910.    58.0 17152804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1,698 more rows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62909"/>
            <a:ext cx="5486400" cy="284645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".value"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تعني: هذا الجزء من الاسم يصبح عموداً مستقلاً. الطريقة الأساسية: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pivot_longer()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ثم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separate_wider_delim()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ثم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pivot_wider()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ar-SA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معاملات pivot_longer() المهمة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384048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المعامل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الاستخدام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الأعمدة التي ستتحول لصفوف (tidy-select)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names_to / values_to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اسم العمود الجديد للأسماء / للقيم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names_sep / names_pattern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تقسيم الاسم إلى أكثر من عمود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".value" داخل names_to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جزء من الاسم يبقى كعمود مستقل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names_prefix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حذف بادئة من الأسماء مثل "year_"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values_drop_na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حذف الصفوف ذات القيم المفقودة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names_transform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تحويل النوع مباشرة مثل list(year = as.integer)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العكس: pivot_wider() لبناء جدول تقرير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2417445"/>
          </a:xfrm>
          <a:prstGeom prst="roundRect">
            <a:avLst>
              <a:gd name="adj" fmla="val 3026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266944" cy="2271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5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550" dirty="0"/>
          </a:p>
          <a:p>
            <a:pPr algn="l" indent="0" marL="0">
              <a:buNone/>
            </a:pPr>
            <a:r>
              <a:rPr lang="en-US" altLang="en-US" sz="15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count(carrier, origin) %&gt;%</a:t>
            </a:r>
            <a:endParaRPr lang="en-US" sz="1550" dirty="0"/>
          </a:p>
          <a:p>
            <a:pPr algn="l" indent="0" marL="0">
              <a:buNone/>
            </a:pPr>
            <a:r>
              <a:rPr lang="en-US" altLang="en-US" sz="15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pivot_wider(</a:t>
            </a:r>
            <a:endParaRPr lang="en-US" sz="1550" dirty="0"/>
          </a:p>
          <a:p>
            <a:pPr algn="l" indent="0" marL="0">
              <a:buNone/>
            </a:pPr>
            <a:r>
              <a:rPr lang="en-US" altLang="en-US" sz="15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names_from  = origin,</a:t>
            </a:r>
            <a:endParaRPr lang="en-US" sz="1550" dirty="0"/>
          </a:p>
          <a:p>
            <a:pPr algn="l" indent="0" marL="0">
              <a:buNone/>
            </a:pPr>
            <a:r>
              <a:rPr lang="en-US" altLang="en-US" sz="15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values_from = n,</a:t>
            </a:r>
            <a:endParaRPr lang="en-US" sz="1550" dirty="0"/>
          </a:p>
          <a:p>
            <a:pPr algn="l" indent="0" marL="0">
              <a:buNone/>
            </a:pPr>
            <a:r>
              <a:rPr lang="en-US" altLang="en-US" sz="15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values_fill = 0</a:t>
            </a:r>
            <a:endParaRPr lang="en-US" sz="1550" dirty="0"/>
          </a:p>
          <a:p>
            <a:pPr algn="l" indent="0" marL="0">
              <a:buNone/>
            </a:pPr>
            <a:r>
              <a:rPr lang="en-US" altLang="en-US" sz="15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%&gt;%</a:t>
            </a:r>
            <a:endParaRPr lang="en-US" sz="1550" dirty="0"/>
          </a:p>
          <a:p>
            <a:pPr algn="l" indent="0" marL="0">
              <a:buNone/>
            </a:pPr>
            <a:r>
              <a:rPr lang="en-US" altLang="en-US" sz="15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mutate(total = EWR + JFK + LGA) %&gt;%</a:t>
            </a:r>
            <a:endParaRPr lang="en-US" sz="1550" dirty="0"/>
          </a:p>
          <a:p>
            <a:pPr algn="l" indent="0" marL="0">
              <a:buNone/>
            </a:pPr>
            <a:r>
              <a:rPr lang="en-US" altLang="en-US" sz="15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arrange(desc(total))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394960" cy="2192782"/>
          </a:xfrm>
          <a:prstGeom prst="roundRect">
            <a:avLst>
              <a:gd name="adj" fmla="val 3336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27648" y="1261872"/>
            <a:ext cx="5175504" cy="2046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16 x 5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carrier   EWR   JFK   LGA total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 &lt;int&gt; &lt;int&gt; &lt;int&gt; &lt;int&gt;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UA      46087  4534  8044 58665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B6       6557 42076  6002 54635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EV      43939  1408  8826 54173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DL       4342 20701 23067 48110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AA       3487 13783 15459 32729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MQ       2276  7193 16928 26397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10 more rows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34765"/>
            <a:ext cx="5486400" cy="24745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values_fill = 0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بدل NA للتركيبات غير الموجودة. مع أكثر من قيمة: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values_from = c(n, delay)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names_glue = "m{month}_{.value}"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ar-SA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complete() و fill(): القيم المفقودة ضمنياً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266944" cy="1682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filter(carrier %in% c("OO", "F9", "HA"))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count(carrier, month)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complete(carrier, month = 1:12,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fill = list(n = 0))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227832"/>
            <a:ext cx="5266944" cy="1499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1 x 13</a:t>
            </a:r>
            <a:endParaRPr lang="en-US" sz="950" dirty="0"/>
          </a:p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carrier    m1    m2    m3    m4    m5    m6    m7    m8</a:t>
            </a:r>
            <a:endParaRPr lang="en-US" sz="950" dirty="0"/>
          </a:p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 &lt;int&gt; &lt;int&gt; &lt;int&gt; &lt;int&gt; &lt;int&gt; &lt;int&gt; &lt;int&gt; &lt;int&gt;</a:t>
            </a:r>
            <a:endParaRPr lang="en-US" sz="950" dirty="0"/>
          </a:p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OO          1     0     0     0     0     2     0     4</a:t>
            </a:r>
            <a:endParaRPr lang="en-US" sz="950" dirty="0"/>
          </a:p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4 more variables: m9 &lt;int&gt;, m10 &lt;int&gt;, m11 &lt;int&gt;,</a:t>
            </a:r>
            <a:endParaRPr lang="en-US" sz="950" dirty="0"/>
          </a:p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m12 &lt;int&gt;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37760"/>
            <a:ext cx="54864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شركة OO لها رحلات في 5 أشهر فقط؛ بدون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تختفي الأشهر الأخرى من أي متوسط أو رسم.</a:t>
            </a:r>
            <a:endParaRPr lang="ar-SA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Excel تكتب اسم المجموعة مرة واحدة فقط:</a:t>
            </a:r>
            <a:endParaRPr lang="ar-SA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27648" y="1719072"/>
            <a:ext cx="5175504" cy="2231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&lt;- tribble(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~region,   ~city,    ~sales,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"Central", "Riyadh", 120,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NA,        "Kharj",  40,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"Western", "Jeddah", 95,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NA,        "Makkah", 60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%&gt;% fill(region, .direction = "down")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41605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4233672"/>
            <a:ext cx="5175504" cy="1865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4 x 3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 city   sales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 &lt;chr&gt;  &lt;dbl&gt;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Central Riyadh   120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Central Kharj     40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Western Jeddah    95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Western Makkah    60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unite() و separate_wider_*() و nest()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266944" cy="1682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select(carrier, origin, dest)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unite("route", origin, dest, sep = "-")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separate_wider_delim(route, delim = "-",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names = c("from", "to"))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48640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separate_wider_position()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للفصل بعدد أحرف ثابت</a:t>
            </a:r>
            <a:endParaRPr lang="ar-SA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separate_wider_regex()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للفصل بتعبير نمطي</a:t>
            </a:r>
            <a:endParaRPr lang="ar-SA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separate_longer_delim()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لتحويل القيم المتعددة في خلية واحدة إلى صفوف</a:t>
            </a:r>
            <a:endParaRPr lang="ar-SA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nest()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جدول داخل جدول</a:t>
            </a:r>
            <a:endParaRPr lang="ar-SA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27648" y="1719072"/>
            <a:ext cx="5175504" cy="95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by_carrier &lt;- flights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nest(.by = carrier)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by_carrier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8803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27648" y="2953512"/>
            <a:ext cx="5175504" cy="2231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16 x 2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carrier data                  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 &lt;list&gt;                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UA      &lt;tibble [58,665 x 18]&gt;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AA      &lt;tibble [32,729 x 18]&gt;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B6      &lt;tibble [54,635 x 18]&gt;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DL      &lt;tibble [48,110 x 18]&gt;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EV      &lt;tibble [54,173 x 18]&gt;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MQ      &lt;tibble [26,397 x 18]&gt;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10 more rows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5394960"/>
            <a:ext cx="53949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سنستخدم هذا الشكل في وحدة purrr لبناء نموذج لكل شركة.</a:t>
            </a:r>
            <a:endParaRPr lang="ar-SA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AF0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57200"/>
            <a:ext cx="1005840" cy="1005840"/>
          </a:xfrm>
          <a:prstGeom prst="ellipse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42416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3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تمرين 3</a:t>
            </a:r>
            <a:endParaRPr lang="ar-SA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15 دقيقة · القسم الثالث من ملف التمارين</a:t>
            </a:r>
            <a:endParaRPr lang="ar-SA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B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0" y="2075688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57400"/>
            <a:ext cx="9692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حوّل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gapminder.csv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إلى الشكل الطويل المنظم ثم احسب متوسط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lifeExp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لكل قارة وسنة.</a:t>
            </a:r>
            <a:endParaRPr lang="ar-SA" sz="1700" dirty="0"/>
          </a:p>
        </p:txBody>
      </p:sp>
      <p:sp>
        <p:nvSpPr>
          <p:cNvPr id="10" name="Shape 8"/>
          <p:cNvSpPr/>
          <p:nvPr/>
        </p:nvSpPr>
        <p:spPr>
          <a:xfrm>
            <a:off x="10698480" y="2734056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715768"/>
            <a:ext cx="9692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أنشئ جدولاً عريضاً: الصفوف قارات والأعمدة سنوات والقيم متوسط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lifeExp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ar-SA" sz="1700" dirty="0"/>
          </a:p>
        </p:txBody>
      </p:sp>
      <p:sp>
        <p:nvSpPr>
          <p:cNvPr id="13" name="Shape 11"/>
          <p:cNvSpPr/>
          <p:nvPr/>
        </p:nvSpPr>
        <p:spPr>
          <a:xfrm>
            <a:off x="10698480" y="3392424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374136"/>
            <a:ext cx="96926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لكل شركة وشهر احسب عدد الرحلات، ثم أكمل الأشهر المفقودة بصفر وحدد أي الشركات لها أشهر بدون رحلات.</a:t>
            </a:r>
            <a:endParaRPr lang="ar-SA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F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280160"/>
            <a:ext cx="2194560" cy="219456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0" y="12801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4</a:t>
            </a:r>
            <a:endParaRPr lang="ar-SA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الجداول: المفاتيح و join_by</a:t>
            </a:r>
            <a:endParaRPr lang="ar-SA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2926080" cy="640080"/>
          </a:xfrm>
          <a:prstGeom prst="roundRect">
            <a:avLst>
              <a:gd name="adj" fmla="val 50000"/>
            </a:avLst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 – 14:45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 الربط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pic>
        <p:nvPicPr>
          <p:cNvPr id="4" name="Image 0" descr="/tmp/claude-0/-home-user-course-1-R/f25ddeba-c076-5e55-bcd3-063e95df2220/scratchpad/ppt/left-j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651760" cy="18928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left_join(): كل صفوف اليسار</a:t>
            </a:r>
            <a:endParaRPr lang="en-US" sz="1100" dirty="0"/>
          </a:p>
        </p:txBody>
      </p:sp>
      <p:pic>
        <p:nvPicPr>
          <p:cNvPr id="6" name="Image 1" descr="/tmp/claude-0/-home-user-course-1-R/f25ddeba-c076-5e55-bcd3-063e95df2220/scratchpad/ppt/inner-jo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80160"/>
            <a:ext cx="2651760" cy="18928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33756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inner_join(): المشترك فقط</a:t>
            </a:r>
            <a:endParaRPr lang="en-US" sz="1100" dirty="0"/>
          </a:p>
        </p:txBody>
      </p:sp>
      <p:pic>
        <p:nvPicPr>
          <p:cNvPr id="8" name="Image 2" descr="/tmp/claude-0/-home-user-course-1-R/f25ddeba-c076-5e55-bcd3-063e95df2220/scratchpad/ppt/full-jo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2651760" cy="18928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12648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full_join(): الكل</a:t>
            </a:r>
            <a:endParaRPr lang="en-US" sz="1100" dirty="0"/>
          </a:p>
        </p:txBody>
      </p:sp>
      <p:pic>
        <p:nvPicPr>
          <p:cNvPr id="10" name="Image 3" descr="/tmp/claude-0/-home-user-course-1-R/f25ddeba-c076-5e55-bcd3-063e95df2220/scratchpad/ppt/anti-jo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1280160"/>
            <a:ext cx="2651760" cy="189280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91540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anti_join(): ما ليس له نظير</a:t>
            </a:r>
            <a:endParaRPr lang="en-US" sz="1100" dirty="0"/>
          </a:p>
        </p:txBody>
      </p:sp>
      <p:sp>
        <p:nvSpPr>
          <p:cNvPr id="12" name="Text 6"/>
          <p:cNvSpPr txBox="1"/>
          <p:nvPr/>
        </p:nvSpPr>
        <p:spPr>
          <a:xfrm>
            <a:off x="548640" y="393192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مضيف (mutating) يضيف أعمدة: </a:t>
            </a:r>
            <a:pPr algn="r" indent="0" marL="0">
              <a:buNone/>
            </a:pPr>
            <a:r>
              <a:rPr lang="ar-SA" altLang="en-US" sz="15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left_join</a:t>
            </a:r>
            <a:pPr algn="r" indent="0" marL="0">
              <a:buNone/>
            </a:pPr>
            <a:r>
              <a:rPr lang="ar-SA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5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right_join</a:t>
            </a:r>
            <a:pPr algn="r" indent="0" marL="0">
              <a:buNone/>
            </a:pPr>
            <a:r>
              <a:rPr lang="ar-SA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5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inner_join</a:t>
            </a:r>
            <a:pPr algn="r" indent="0" marL="0">
              <a:buNone/>
            </a:pPr>
            <a:r>
              <a:rPr lang="ar-SA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5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full_join</a:t>
            </a:r>
            <a:pPr algn="r" indent="0" marL="0">
              <a:buNone/>
            </a:pPr>
            <a:r>
              <a:rPr lang="ar-SA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ربط مرشح (filtering) يرشح الصفوف فقط: </a:t>
            </a:r>
            <a:pPr algn="r" indent="0" marL="0">
              <a:buNone/>
            </a:pPr>
            <a:r>
              <a:rPr lang="ar-SA" altLang="en-US" sz="15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semi_join</a:t>
            </a:r>
            <a:pPr algn="r" indent="0" marL="0">
              <a:buNone/>
            </a:pPr>
            <a:r>
              <a:rPr lang="ar-SA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5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anti_join</a:t>
            </a:r>
            <a:pPr algn="r" indent="0" marL="0">
              <a:buNone/>
            </a:pPr>
            <a:r>
              <a:rPr lang="ar-SA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ar-SA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ar-SA" alt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Animations: github.com/gadenbuie/tidyexplain</a:t>
            </a:r>
            <a:endParaRPr lang="ar-SA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اسم الشركة باستخدام join_by()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852160" cy="2053336"/>
          </a:xfrm>
          <a:prstGeom prst="roundRect">
            <a:avLst>
              <a:gd name="adj" fmla="val 356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632704" cy="1907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left_join(airlines, by = join_by(carrier)) %&gt;%</a:t>
            </a: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select(carrier, name, flight, origin, dest)</a:t>
            </a:r>
            <a:endParaRPr lang="en-US" sz="1450" dirty="0"/>
          </a:p>
          <a:p>
            <a:pPr algn="l" indent="0" marL="0">
              <a:buNone/>
            </a:pP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old style</a:t>
            </a: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left_join(x, y, by = c("carrier" = "code"))</a:t>
            </a: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 style: explicit expression</a:t>
            </a: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left_join(x, y, by = join_by(carrier == code))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0" y="1188720"/>
            <a:ext cx="5029200" cy="2037842"/>
          </a:xfrm>
          <a:prstGeom prst="roundRect">
            <a:avLst>
              <a:gd name="adj" fmla="val 3590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93408" y="1261872"/>
            <a:ext cx="4809744" cy="189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336,776 x 5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carrier name                   flight origin dest 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 &lt;chr&gt;                   &lt;dbl&gt; &lt;chr&gt;  &lt;chr&gt;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UA      United Air Lines Inc.    1545 EWR    IAH  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UA      United Air Lines Inc.    1714 LGA    IAH  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AA      American Airlines Inc.   1141 JFK    MIA  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B6      JetBlue Airways           725 JFK    BQN  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DL      Delta Air Lines Inc.      461 LGA    ATL  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UA      United Air Lines Inc.    1696 EWR    ORD  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336,770 more rows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70656"/>
            <a:ext cx="5852160" cy="28387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يدعم أكثر من مفتاح: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join_by(carrier, origin == airport)</a:t>
            </a:r>
            <a:endParaRPr lang="ar-SA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يدعم شروط عدم المساواة: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join_by(date &gt;= start, date &lt;= end)</a:t>
            </a:r>
            <a:endParaRPr lang="ar-SA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يدعم الربط الأقرب: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join_by(closest(date &gt;= effective))</a:t>
            </a:r>
            <a:endParaRPr lang="ar-SA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 من المفاتيح قبل الربط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1EA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108813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400" dirty="0">
                <a:solidFill>
                  <a:srgbClr val="9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أخطر خطأ: مفتاح مكرر في الجدول الأيمن يضاعف الصفوف بصمت.</a:t>
            </a:r>
            <a:endParaRPr lang="ar-SA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993392"/>
            <a:ext cx="10844784" cy="1956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airlines %&gt;% count(carrier) %&gt;% filter(n &gt; 1)      # is the key unique?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 anti_join(airlines, by = join_by(carrier)) %&gt;% count(carrier)  # what has no match?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let dplyr check for you: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left_join(airlines, by = join_by(carrier),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relationship = "many-to-one", unmatched = "drop")</a:t>
            </a:r>
            <a:endParaRPr lang="en-US" sz="1200" dirty="0"/>
          </a:p>
        </p:txBody>
      </p:sp>
      <p:pic>
        <p:nvPicPr>
          <p:cNvPr id="8" name="Image 0" descr="/tmp/claude-0/-home-user-course-1-R/f25ddeba-c076-5e55-bcd3-063e95df2220/scratchpad/ppt/left-join-ex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206240"/>
            <a:ext cx="4023360" cy="200985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206240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4279392"/>
            <a:ext cx="6547104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tibble(id = c(1, 1, 2), x = c("a", "b", "c"))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&lt;- tibble(id = c(1, 1, 2), y = c("p", "q", "r"))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left_join(x, y, by = join_by(id))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21208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5285232"/>
            <a:ext cx="6547104" cy="90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 Detected an unexpected many-to-many relationship between `x`</a:t>
            </a:r>
            <a:endParaRPr lang="en-US" sz="950" dirty="0"/>
          </a:p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`y`.</a:t>
            </a:r>
            <a:endParaRPr lang="en-US" sz="950" dirty="0"/>
          </a:p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Row 1 of `x` matches multiple rows in `y`.</a:t>
            </a:r>
            <a:endParaRPr lang="en-US" sz="950" dirty="0"/>
          </a:p>
          <a:p>
            <a:pPr algn="l" indent="0" marL="0">
              <a:buNone/>
            </a:pPr>
            <a:r>
              <a:rPr lang="en-US" alt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5 rows (was 3)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و unmatched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10844784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left_join(x, y, by = join_by(id), relationship = "one-to-one")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901952"/>
            <a:ext cx="10844784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Each row in `x` must match at most 1 row in `y`.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Row 1 of `x` matches multiple rows in `y`.</a:t>
            </a:r>
            <a:endParaRPr lang="en-US" sz="105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64240" cy="1463040"/>
        </p:xfrm>
        <a:graphic>
          <a:graphicData uri="http://schemas.openxmlformats.org/drawingml/2006/table">
            <a:tbl>
              <a:tblPr/>
              <a:tblGrid>
                <a:gridCol w="2011680"/>
                <a:gridCol w="5120640"/>
                <a:gridCol w="3931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المعامل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القيم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المعنى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relationship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"one-to-one", "one-to-many", "many-to-one", "many-to-many"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الشكل المتوقع للعلاقة؛ أي مخالفة توقف التنفيذ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unmatched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"drop", "error"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ماذا يحدث للصفوف التي ستضيع لأن مفتاحها بلا نظير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7548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1EA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4754880"/>
            <a:ext cx="108813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400" dirty="0">
                <a:solidFill>
                  <a:srgbClr val="9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استخدمهما في كود الإنتاج: الخطأ المبكر أفضل من نتيجة خاطئة صامتة.</a:t>
            </a:r>
            <a:endParaRPr lang="ar-SA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الربط بالشروط: تصنيف التأخير بجدول فئات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6583680" cy="2572385"/>
          </a:xfrm>
          <a:prstGeom prst="roundRect">
            <a:avLst>
              <a:gd name="adj" fmla="val 2844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6364224" cy="2426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delay_bands &lt;- tribble(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~band,      ~lower, ~upper,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"on time",  -Inf,    0,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"minor",     0,     15,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"moderate",  15,    60,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"severe",    60,    Inf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filter(!is.na(dep_delay))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inner_join(delay_bands,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by = join_by(dep_delay &gt; lower, dep_delay &lt;= upper))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count(band)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0" y="1188720"/>
            <a:ext cx="4297680" cy="1720215"/>
          </a:xfrm>
          <a:prstGeom prst="roundRect">
            <a:avLst>
              <a:gd name="adj" fmla="val 4252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24928" y="1261872"/>
            <a:ext cx="4078224" cy="1573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4 x 2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band          n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   &lt;int&gt;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minor     57658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moderate  44193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on time  200089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severe    26581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3200400"/>
            <a:ext cx="42976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بديل أنظف من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case_when()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عندما تأتي الفئات من جدول مرجعي قابل للتعديل.</a:t>
            </a:r>
            <a:endParaRPr lang="ar-SA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الربط الأقرب (rolling join): آخر رسم ساري في تاريخ الرحلة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6766560" cy="2301240"/>
          </a:xfrm>
          <a:prstGeom prst="roundRect">
            <a:avLst>
              <a:gd name="adj" fmla="val 3179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6547104" cy="2154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fuel_surcharge &lt;- tibble(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effective = as.Date(c("2013-01-01", "2013-04-01", "2013-09-01")),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surcharge = c(10, 15, 12)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mutate(date = as.Date(time_hour))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select(date, carrier, flight)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left_join(fuel_surcharge,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by = join_by(closest(date &gt;= effective)))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count(effective, surcharge)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0" y="1188720"/>
            <a:ext cx="4114800" cy="1511046"/>
          </a:xfrm>
          <a:prstGeom prst="roundRect">
            <a:avLst>
              <a:gd name="adj" fmla="val 4841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07808" y="1261872"/>
            <a:ext cx="3895344" cy="1364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3 x 3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effective  surcharge      n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&lt;date&gt;         &lt;dbl&gt;  &lt;int&gt;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2013-01-01        10  80687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2013-04-01        15 144176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2013-09-01        12 111913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926080"/>
            <a:ext cx="411480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closest()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يختار من الصفوف التي تحقق الشرط أقربها: أحدث تاريخ سريان لا يتجاوز تاريخ الرحلة. مفيد للأسعار، الأسعار الصرف، وحالات العملاء المتغيرة.</a:t>
            </a:r>
            <a:endParaRPr lang="ar-SA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الربط المرشح: semi_join() و anti_join()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10844784" cy="1225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top_dest &lt;- flights %&gt;% count(dest, sort = TRUE) %&gt;% head(5)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 semi_join(top_dest, by = join_by(dest))   # only flights to the top 5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 anti_join(top_dest, by = join_by(dest))   # everything else</a:t>
            </a:r>
            <a:endParaRPr lang="en-US" sz="1250" dirty="0"/>
          </a:p>
        </p:txBody>
      </p:sp>
      <p:pic>
        <p:nvPicPr>
          <p:cNvPr id="6" name="Image 0" descr="/tmp/claude-0/-home-user-course-1-R/f25ddeba-c076-5e55-bcd3-063e95df2220/scratchpad/ppt/semi-j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834640"/>
            <a:ext cx="4937760" cy="3529584"/>
          </a:xfrm>
          <a:prstGeom prst="rect">
            <a:avLst/>
          </a:prstGeom>
        </p:spPr>
      </p:pic>
      <p:pic>
        <p:nvPicPr>
          <p:cNvPr id="7" name="Image 1" descr="/tmp/claude-0/-home-user-course-1-R/f25ddeba-c076-5e55-bcd3-063e95df2220/scratchpad/ppt/anti-jo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834640"/>
            <a:ext cx="4937760" cy="352958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AF0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57200"/>
            <a:ext cx="1005840" cy="1005840"/>
          </a:xfrm>
          <a:prstGeom prst="ellipse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42416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3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تمرين 4</a:t>
            </a:r>
            <a:endParaRPr lang="ar-SA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 دقيقة · القسم الرابع من ملف التمارين</a:t>
            </a:r>
            <a:endParaRPr lang="ar-SA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B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0" y="2075688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57400"/>
            <a:ext cx="9692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أضف اسم الشركة إلى ملخص عدد الرحلات لكل شركة مع التحقق من العلاقة بـ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relationship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ar-SA" sz="1700" dirty="0"/>
          </a:p>
        </p:txBody>
      </p:sp>
      <p:sp>
        <p:nvSpPr>
          <p:cNvPr id="10" name="Shape 8"/>
          <p:cNvSpPr/>
          <p:nvPr/>
        </p:nvSpPr>
        <p:spPr>
          <a:xfrm>
            <a:off x="10698480" y="2734056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715768"/>
            <a:ext cx="96926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أنشئ جدول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seasons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(اسم الموسم، شهر البداية، شهر النهاية) واربطه بالرحلات بشرط عدم المساواة، ثم احسب متوسط التأخير لكل موسم.</a:t>
            </a:r>
            <a:endParaRPr lang="ar-SA" sz="1700" dirty="0"/>
          </a:p>
        </p:txBody>
      </p:sp>
      <p:sp>
        <p:nvSpPr>
          <p:cNvPr id="13" name="Shape 11"/>
          <p:cNvSpPr/>
          <p:nvPr/>
        </p:nvSpPr>
        <p:spPr>
          <a:xfrm>
            <a:off x="10698480" y="3685032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666744"/>
            <a:ext cx="9692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باستخدام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anti_join()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أوجد الشركات في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airlines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التي ليس لها رحلات من مطار LGA.</a:t>
            </a:r>
            <a:endParaRPr lang="ar-SA" sz="1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F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ar-SA" alt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استراحة</a:t>
            </a:r>
            <a:endParaRPr lang="ar-SA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ar-SA" altLang="en-US" sz="2800" b="1" dirty="0">
                <a:solidFill>
                  <a:srgbClr val="F2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14:45 – 15:00</a:t>
            </a:r>
            <a:endParaRPr lang="ar-SA" sz="2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F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280160"/>
            <a:ext cx="2194560" cy="219456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0" y="12801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5</a:t>
            </a:r>
            <a:endParaRPr lang="ar-SA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النصوص والعوامل والتواريخ</a:t>
            </a:r>
            <a:endParaRPr lang="ar-SA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2926080" cy="640080"/>
          </a:xfrm>
          <a:prstGeom prst="roundRect">
            <a:avLst>
              <a:gd name="adj" fmla="val 50000"/>
            </a:avLst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 – 15:45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stringr: الدوال الأساسية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3840480"/>
        </p:xfrm>
        <a:graphic>
          <a:graphicData uri="http://schemas.openxmlformats.org/drawingml/2006/table">
            <a:tbl>
              <a:tblPr/>
              <a:tblGrid>
                <a:gridCol w="5486400"/>
                <a:gridCol w="55778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الدالة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الوظيفة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str_detect(x, pattern)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هل يحتوي النمط؟ (منطقي)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str_extract() / str_extract_all()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استخراج أول / كل تطابق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str_replace() / str_remove()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استبدال / حذف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str_sub(x, 1, 3)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جزء من النص بالموقع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str_split() / str_c() / str_glue()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تقسيم / دمج / قالب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str_to_lower(), str_to_title(), str_squish()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تنسيق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str_length(), str_count(), str_pad()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قياس وتنسيق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الدوال تبدأ بـ </a:t>
            </a:r>
            <a:pPr algn="r" indent="0" marL="0">
              <a:buNone/>
            </a:pPr>
            <a:r>
              <a:rPr lang="ar-SA" altLang="en-US" sz="15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str_</a:t>
            </a:r>
            <a:pPr algn="r" indent="0" marL="0">
              <a:buNone/>
            </a:pPr>
            <a:r>
              <a:rPr lang="ar-SA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وتقبل المتجه كأول معامل، وكلها موجهة (vectorised).</a:t>
            </a:r>
            <a:endParaRPr lang="ar-SA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تنظيف أسماء الشركات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2053336"/>
          </a:xfrm>
          <a:prstGeom prst="roundRect">
            <a:avLst>
              <a:gd name="adj" fmla="val 356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10844784" cy="1907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airlines %&gt;%</a:t>
            </a: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</a:t>
            </a: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name_clean = str_remove(name, "\\s+(Inc\\.|Co\\.|Corporation)$"),</a:t>
            </a: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is_airways = str_detect(name, "Airways"),</a:t>
            </a: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n_words    = str_count(name_clean, "\\S+"),</a:t>
            </a: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      = str_glue("{carrier} - {name_clean}")</a:t>
            </a: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%&gt;%</a:t>
            </a:r>
            <a:endParaRPr lang="en-US" sz="1450" dirty="0"/>
          </a:p>
          <a:p>
            <a:pPr algn="l" indent="0" marL="0">
              <a:buNone/>
            </a:pPr>
            <a:r>
              <a:rPr lang="en-US" altLang="en-US" sz="14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select(-name)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424936"/>
            <a:ext cx="11064240" cy="2037842"/>
          </a:xfrm>
          <a:prstGeom prst="roundRect">
            <a:avLst>
              <a:gd name="adj" fmla="val 3590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498088"/>
            <a:ext cx="10844784" cy="189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16 x 4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carrier name_clean          is_airways n_words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 &lt;chr&gt;               &lt;lgl&gt;        &lt;int&gt;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9E      Endeavor Air        FALSE            2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AA      American Airlines   FALSE            2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AS      Alaska Airlines     FALSE            2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B6      JetBlue Airways     TRUE             2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DL      Delta Air Lines     FALSE            3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EV      ExpressJet Airlines FALSE            2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10 more rows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التعابير النمطية (Regex) الأكثر استخداماً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766560" cy="384048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النمط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المعنى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مثال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أي حرف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a.c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\d, \w, \s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رقم، حرف/رقم، فراغ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\d{4}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^, $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بداية، نهاية النص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^N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*, +, ?, {n,m}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التكرار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[A-Z]{2}$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[abc], [^abc]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مجموعة، نفي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[AEIOU]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(a|b)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أحد الخيارين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(Inc|Co)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\.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نقطة حرفية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Inc\.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89520" y="1188720"/>
            <a:ext cx="40233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R تُكتب الشرطة المائلة مرتين: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"\\d"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جرّب الأنماط على regex101.com قبل وضعها في الكود.</a:t>
            </a:r>
            <a:endParaRPr lang="ar-SA" sz="1400" dirty="0"/>
          </a:p>
        </p:txBody>
      </p:sp>
      <p:sp>
        <p:nvSpPr>
          <p:cNvPr id="6" name="Shape 3"/>
          <p:cNvSpPr/>
          <p:nvPr/>
        </p:nvSpPr>
        <p:spPr>
          <a:xfrm>
            <a:off x="7589520" y="27432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99248" y="2816352"/>
            <a:ext cx="3803904" cy="1316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distinct(tailnum) %&gt;%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filter(!str_detect(tailnum,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"^N\\d{3,5}[A-Z]{0,2}$"))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89520" y="43434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99248" y="4416552"/>
            <a:ext cx="3803904" cy="10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381 x 1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tailnum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N3ALAA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N3DUAA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N9EAMQ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forcats: التحكم في ترتيب العوامل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4901184" cy="1682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filter(!is.na(arr_delay))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mutate(carrier = fct_lump_n(carrier, n = 6))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ggplot(aes(y = fct_infreq(carrier))) +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geom_bar()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1206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fct_lump_n()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يدمج المستويات الصغيرة في Other، و </a:t>
            </a:r>
            <a:pPr algn="r" indent="0" marL="0">
              <a:buNone/>
            </a:pPr>
            <a:r>
              <a:rPr lang="ar-SA" altLang="en-US" sz="14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fct_infreq()</a:t>
            </a:r>
            <a:pPr algn="r" indent="0" marL="0">
              <a:buNone/>
            </a:pPr>
            <a:r>
              <a:rPr lang="ar-SA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يرتب حسب التكرار. المشكلة المعتادة: ترتيب المستويات في الرسم والجداول.</a:t>
            </a:r>
            <a:endParaRPr lang="ar-SA" sz="1400" dirty="0"/>
          </a:p>
        </p:txBody>
      </p:sp>
      <p:pic>
        <p:nvPicPr>
          <p:cNvPr id="7" name="Image 0" descr="/tmp/claude-0/-home-user-course-1-R/f25ddeba-c076-5e55-bcd3-063e95df2220/scratchpad/ppt/plot_fc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188720"/>
            <a:ext cx="5669280" cy="377647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ترتيب المستويات حسب إحصائية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120640" cy="2560320"/>
          </a:xfrm>
          <a:prstGeom prst="roundRect">
            <a:avLst>
              <a:gd name="adj" fmla="val 2857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4901184" cy="2414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filter(!is.na(arr_delay))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summarise(median_delay = median(arr_delay),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.by = carrier)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left_join(airlines, by = join_by(carrier))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mutate(name = fct_reorder(name, median_delay)) %&gt;%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ggplot(aes(x = median_delay, y = name)) +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geom_col()</a:t>
            </a:r>
            <a:endParaRPr lang="en-US" sz="12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512064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الدالة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الوظيفة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fct_reorder(f, x, .fun)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ترتيب حسب إحصائية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fct_rev()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عكس الترتيب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fct_relevel(f, "A", "B")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ترتيب يدوي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fct_recode(f, new = "old")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إعادة تسمية المستويات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fct_collapse() / fct_drop()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دمج مستويات / حذف غير المستخدم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/tmp/claude-0/-home-user-course-1-R/f25ddeba-c076-5e55-bcd3-063e95df2220/scratchpad/ppt/plot_fc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188720"/>
            <a:ext cx="5669280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lubridate: التواريخ والأوقات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6400800" cy="2194560"/>
          </a:xfrm>
          <a:prstGeom prst="roundRect">
            <a:avLst>
              <a:gd name="adj" fmla="val 33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6181344" cy="2048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ymd("2026-09-02"); dmy("02/09/2026"); ymd_hms("2026-09-02 14:30:00")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make_datetime(2013, 1, 1, 5, 17)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&lt;- ymd_hms("2013-06-15 08:45:00")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c(year = year(d), month = month(d), day = day(d),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hour = hour(d), wday = wday(d), yday = yday(d))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6400800" cy="822960"/>
          </a:xfrm>
          <a:prstGeom prst="roundRect">
            <a:avLst>
              <a:gd name="adj" fmla="val 8889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593592"/>
            <a:ext cx="6181344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year month   day  hour  wday  yday 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2013     6    15     8     7   166 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6400800" cy="1554480"/>
          </a:xfrm>
          <a:prstGeom prst="roundRect">
            <a:avLst>
              <a:gd name="adj" fmla="val 4706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4599432"/>
            <a:ext cx="6181344" cy="1408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&lt;- ymd("2013-01-01")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+ days(30)          # "2013-01-31"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+ months(1)         # "2013-02-01"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ymd("2013-12-31") - d # Time difference of 364 days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188720"/>
            <a:ext cx="4389120" cy="4937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ymd()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dmy()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mdy()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تقرأ أي فاصل</a:t>
            </a:r>
            <a:endParaRPr lang="ar-SA" sz="13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فترات تقويمية؛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ddays()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dhours()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مدد بالثواني</a:t>
            </a:r>
            <a:endParaRPr lang="ar-SA" sz="13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interval(start, end)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%within%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للتحقق من وقوع تاريخ في فترة</a:t>
            </a:r>
            <a:endParaRPr lang="ar-SA" sz="13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floor_date()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ceiling_date()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round_date()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للتجميع الزمني</a:t>
            </a:r>
            <a:endParaRPr lang="ar-SA" sz="13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wday(label = TRUE)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month(label = TRUE)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أسماء الأيام والأشهر</a:t>
            </a:r>
            <a:endParaRPr lang="ar-SA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وقت الإقلاع واستخراج مكوناته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6766560" cy="2580132"/>
          </a:xfrm>
          <a:prstGeom prst="roundRect">
            <a:avLst>
              <a:gd name="adj" fmla="val 2835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6547104" cy="243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filter(!is.na(dep_time)) %&gt;%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dep_dt  = make_datetime(year, month, day,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dep_time %/% 100, dep_time %% 100),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weekday = wday(dep_dt, label = TRUE, week_start = 7),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period  = case_when(hour(dep_dt) &lt; 12 ~ "morning",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hour(dep_dt) &lt; 18 ~ "afternoon",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.default = "evening")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%&gt;%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count(weekday, period) %&gt;%</a:t>
            </a:r>
            <a:endParaRPr lang="en-US" sz="1250" dirty="0"/>
          </a:p>
          <a:p>
            <a:pPr algn="l" indent="0" marL="0">
              <a:buNone/>
            </a:pPr>
            <a:r>
              <a:rPr lang="en-US" altLang="en-US" sz="12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pivot_wider(names_from = period, values_from = n)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0" y="1188720"/>
            <a:ext cx="4114800" cy="2347722"/>
          </a:xfrm>
          <a:prstGeom prst="roundRect">
            <a:avLst>
              <a:gd name="adj" fmla="val 3116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07808" y="1261872"/>
            <a:ext cx="3895344" cy="2201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7 x 4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weekday afternoon evening morning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&lt;ord&gt;       &lt;int&gt;   &lt;int&gt;   &lt;int&gt;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Sun         17561   11636   16446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Mon         17674   11818   19976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Tue         18058   11338   19877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Wed         17842   11329   19687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Thu         17303   11635   19716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Fri         17546   11647   19510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1 more row</a:t>
            </a:r>
            <a:endParaRPr lang="en-US" sz="1350" dirty="0"/>
          </a:p>
        </p:txBody>
      </p:sp>
      <p:pic>
        <p:nvPicPr>
          <p:cNvPr id="8" name="Image 0" descr="/tmp/claude-0/-home-user-course-1-R/f25ddeba-c076-5e55-bcd3-063e95df2220/scratchpad/ppt/plot_week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931920"/>
            <a:ext cx="41148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AF0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57200"/>
            <a:ext cx="1005840" cy="1005840"/>
          </a:xfrm>
          <a:prstGeom prst="ellipse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42416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3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تمرين 5</a:t>
            </a:r>
            <a:endParaRPr lang="ar-SA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15 دقيقة · القسم الخامس من ملف التمارين</a:t>
            </a:r>
            <a:endParaRPr lang="ar-SA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B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0" y="2075688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57400"/>
            <a:ext cx="9692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airlines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أنشئ عمود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short_name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بحذف Inc. و Co. و Corporation وأي فراغ زائد.</a:t>
            </a:r>
            <a:endParaRPr lang="ar-SA" sz="1700" dirty="0"/>
          </a:p>
        </p:txBody>
      </p:sp>
      <p:sp>
        <p:nvSpPr>
          <p:cNvPr id="10" name="Shape 8"/>
          <p:cNvSpPr/>
          <p:nvPr/>
        </p:nvSpPr>
        <p:spPr>
          <a:xfrm>
            <a:off x="10698480" y="2734056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715768"/>
            <a:ext cx="9692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استخرج من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tailnum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الجزء الرقمي كعدد صحيح، وأوجد كم طائرة ينتهي رقمها بحرفين.</a:t>
            </a:r>
            <a:endParaRPr lang="ar-SA" sz="1700" dirty="0"/>
          </a:p>
        </p:txBody>
      </p:sp>
      <p:sp>
        <p:nvSpPr>
          <p:cNvPr id="13" name="Shape 11"/>
          <p:cNvSpPr/>
          <p:nvPr/>
        </p:nvSpPr>
        <p:spPr>
          <a:xfrm>
            <a:off x="10698480" y="3392424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374136"/>
            <a:ext cx="96926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متوسط تأخير الإقلاع حسب الشهر لأكبر 5 شركات، مع ترتيب الشركات في الأسطورة حسب متوسط التأخير.</a:t>
            </a:r>
            <a:endParaRPr lang="ar-SA" sz="1700" dirty="0"/>
          </a:p>
        </p:txBody>
      </p:sp>
      <p:sp>
        <p:nvSpPr>
          <p:cNvPr id="16" name="Shape 14"/>
          <p:cNvSpPr/>
          <p:nvPr/>
        </p:nvSpPr>
        <p:spPr>
          <a:xfrm>
            <a:off x="10698480" y="4343400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325112"/>
            <a:ext cx="9692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احسب عدد الرحلات لكل أسبوع وارسمها كسلسلة زمنية.</a:t>
            </a:r>
            <a:endParaRPr lang="ar-SA" sz="1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F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280160"/>
            <a:ext cx="2194560" cy="219456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0" y="12801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6</a:t>
            </a:r>
            <a:endParaRPr lang="ar-SA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التكرار والدوال باستخدام purrr</a:t>
            </a:r>
            <a:endParaRPr lang="ar-SA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2926080" cy="640080"/>
          </a:xfrm>
          <a:prstGeom prst="roundRect">
            <a:avLst>
              <a:gd name="adj" fmla="val 50000"/>
            </a:avLst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15:45 – 16:30</a:t>
            </a:r>
            <a:endParaRPr lang="en-US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purrr؟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ar-SA" altLang="en-US" sz="1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نسخ ولصق</a:t>
            </a:r>
            <a:endParaRPr lang="ar-SA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19072"/>
            <a:ext cx="3346704" cy="1408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 &lt;- read_csv("data/airlines.csv")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&lt;- read_csv("data/gapminder.csv")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 &lt;- read_csv("data/riskfactors.csv")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ar-SA" altLang="en-US" sz="1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حلقة for</a:t>
            </a:r>
            <a:endParaRPr lang="ar-SA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07408" y="1719072"/>
            <a:ext cx="3346704" cy="1408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&lt;- list()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(f in files) {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results[[f]] &lt;- read_csv(f)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ar-SA" altLang="en-US" sz="16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purrr</a:t>
            </a:r>
            <a:endParaRPr lang="ar-SA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56448" y="1719072"/>
            <a:ext cx="3346704" cy="1408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&lt;- map(files, read_csv)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74720"/>
            <a:ext cx="11064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map(.x, .f)</a:t>
            </a:r>
            <a:pPr algn="r" indent="0" marL="0">
              <a:buNone/>
            </a:pPr>
            <a:r>
              <a:rPr lang="ar-SA" alt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تطبق </a:t>
            </a:r>
            <a:pPr algn="r" indent="0" marL="0">
              <a:buNone/>
            </a:pPr>
            <a:r>
              <a:rPr lang="ar-SA" altLang="en-US" sz="16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</a:t>
            </a:r>
            <a:pPr algn="r" indent="0" marL="0">
              <a:buNone/>
            </a:pPr>
            <a:r>
              <a:rPr lang="ar-SA" alt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على كل عنصر من </a:t>
            </a:r>
            <a:pPr algn="r" indent="0" marL="0">
              <a:buNone/>
            </a:pPr>
            <a:r>
              <a:rPr lang="ar-SA" altLang="en-US" sz="16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.x</a:t>
            </a:r>
            <a:pPr algn="r" indent="0" marL="0">
              <a:buNone/>
            </a:pPr>
            <a:r>
              <a:rPr lang="ar-SA" alt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وتعيد قائمة. أخواتها تعيد متجهات بنوع محدد:</a:t>
            </a:r>
            <a:endParaRPr lang="ar-SA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187952"/>
            <a:ext cx="10844784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map_dbl()   map_int()   map_chr()   map_lgl()   map_vec()   walk()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4919472"/>
            <a:ext cx="10844784" cy="1225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list(a = 1:5, b = c(2, NA, 8), c = 10:20)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map_dbl(x, mean, na.rm = TRUE)            # existing function + extra args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map_dbl(x, \(v) mean(v, na.rm = TRUE))    # anonymous function (R &gt;= 4.1)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map_dbl(x, ~ mean(.x, na.rm = TRUE))      # formula style (older purrr)</a:t>
            </a:r>
            <a:endParaRPr lang="en-US" sz="11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قراءة عدة ملفات وفحصها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6035040" cy="1449070"/>
          </a:xfrm>
          <a:prstGeom prst="roundRect">
            <a:avLst>
              <a:gd name="adj" fmla="val 5048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815584" cy="1302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&lt;- list.files("data", pattern = "\\.csv$",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full.names = TRUE)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%&gt;%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set_names(basename(files)) %&gt;%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map(\(f) read_csv(f, n_max = 200, show_col_types = FALSE)) %&gt;%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map_int(ncol)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0" y="1188720"/>
            <a:ext cx="4846320" cy="968756"/>
          </a:xfrm>
          <a:prstGeom prst="roundRect">
            <a:avLst>
              <a:gd name="adj" fmla="val 7551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76288" y="1261872"/>
            <a:ext cx="4626864" cy="822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airlines.csv    diamonds.csv     flights.csv 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2              10              19 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gapminder.csv riskfactors.csv 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38              34 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66390"/>
            <a:ext cx="6035040" cy="344297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map2(.x, .y, .f)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لمدخلين، و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pmap(list(...), .f)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لأي عدد</a:t>
            </a:r>
            <a:endParaRPr lang="ar-SA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عندما تهمك الآثار الجانبية فقط (حفظ ملفات، طباعة)</a:t>
            </a:r>
            <a:endParaRPr lang="ar-SA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list_rbind()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لدمج قائمة جداول في جدول واحد</a:t>
            </a:r>
            <a:endParaRPr lang="ar-SA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set_names()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يجعل النتيجة مسماة، وهذا يظهر في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list_rbind(names_to = "file")</a:t>
            </a:r>
            <a:endParaRPr lang="ar-SA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لكل شركة باستخدام nest() و map()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6217920" cy="2216023"/>
          </a:xfrm>
          <a:prstGeom prst="roundRect">
            <a:avLst>
              <a:gd name="adj" fmla="val 330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998464" cy="2069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filter(!is.na(arr_delay))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nest(.by = carrier)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    = map_int(data, nrow),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= map(data, \(d) lm(arr_delay ~ dep_delay, data = d)),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slope = map_dbl(model, \(m) coef(m)[["dep_delay"]]),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r2    = map_dbl(model, \(m) summary(m)$r.squared)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select(-data, -model) %&gt;%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arrange(desc(r2))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49440" y="1188720"/>
            <a:ext cx="4663440" cy="2347722"/>
          </a:xfrm>
          <a:prstGeom prst="roundRect">
            <a:avLst>
              <a:gd name="adj" fmla="val 3116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59168" y="1261872"/>
            <a:ext cx="4443984" cy="2201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16 x 4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carrier     n slope    r2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 &lt;int&gt; &lt;dbl&gt; &lt;dbl&gt;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OO         29 1.09  0.925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FL       3175 0.985 0.914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EV      51108 1.02  0.908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HA        342 0.965 0.906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YV        544 1.02  0.897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WN      12044 1.01  0.871</a:t>
            </a:r>
            <a:endParaRPr lang="en-US" sz="1350" dirty="0"/>
          </a:p>
          <a:p>
            <a:pPr algn="l" indent="0" marL="0">
              <a:buNone/>
            </a:pPr>
            <a:r>
              <a:rPr lang="en-US" alt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10 more rows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49440" y="4480560"/>
            <a:ext cx="4663440" cy="1737360"/>
          </a:xfrm>
          <a:prstGeom prst="roundRect">
            <a:avLst>
              <a:gd name="adj" fmla="val 421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59168" y="4553712"/>
            <a:ext cx="4443984" cy="1591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file per group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by_origin &lt;- flights %&gt;% group_split(origin)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paths &lt;- str_glue("output/flights_{c('EWR','JFK','LGA')}.csv")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walk2(by_origin, paths, write_csv)</a:t>
            </a:r>
            <a:endParaRPr lang="en-US" sz="10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كتابة دوال تستخدم dplyr: tidy evaluation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المشكلة: أسماء الأعمدة داخل دوال dplyr ليست متغيرات عادية.</a:t>
            </a:r>
            <a:endParaRPr lang="ar-SA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673352"/>
            <a:ext cx="10844784" cy="1225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mean_by_bad &lt;- function(data, var, group) {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%&gt;% summarise(mean = mean(var, na.rm = TRUE), .by = group)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mean_by_bad(flights, dep_delay, carrier)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3136392"/>
            <a:ext cx="10844784" cy="722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in `summarise()`: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Problem while computing `mean = mean(var, na.rm = TRUE)`.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Caused by error: object 'carrier' not found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الحل: احتضان المعامل بالأقواس المزدوجة </a:t>
            </a:r>
            <a:pPr algn="r" indent="0" marL="0">
              <a:buNone/>
            </a:pPr>
            <a:r>
              <a:rPr lang="ar-SA" altLang="en-US" sz="15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}}</a:t>
            </a:r>
            <a:endParaRPr lang="ar-SA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6766560" cy="1371600"/>
          </a:xfrm>
          <a:prstGeom prst="roundRect">
            <a:avLst>
              <a:gd name="adj" fmla="val 53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4553712"/>
            <a:ext cx="6547104" cy="1225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mean_by &lt;- function(data, var, group) {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%&gt;% summarise(mean = mean({{ var }}, na.rm = TRUE), .by = {{ group }})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mean_by(flights, dep_delay, origin)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448056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07808" y="4553712"/>
            <a:ext cx="3895344" cy="1225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3 x 2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  mean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EWR     15.1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LGA     10.3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JFK     12.1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دالة تلخيص قابلة لإعادة الاستخدام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6217920" cy="2874518"/>
          </a:xfrm>
          <a:prstGeom prst="roundRect">
            <a:avLst>
              <a:gd name="adj" fmla="val 2545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998464" cy="2728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summarise_by &lt;- function(data, var, ..., min_n = 100) 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%&gt;%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summarise(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      = n(),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"{{ var }}_mean" := mean({{ var }}, na.rm = TRUE),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"{{ var }}_sd"   := sd({{ var }}, na.rm = TRUE),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.by = c(...)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%&gt;%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filter(n &gt;= min_n) %&gt;%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arrange(desc(n))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 summarise_by(arr_delay, origin, carrier)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188720"/>
            <a:ext cx="4663440" cy="1960372"/>
          </a:xfrm>
          <a:prstGeom prst="roundRect">
            <a:avLst>
              <a:gd name="adj" fmla="val 3732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59168" y="1261872"/>
            <a:ext cx="4443984" cy="1814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33 x 5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 carrier     n arr_delay_mean arr_delay_sd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&lt;chr&gt;   &lt;int&gt;          &lt;dbl&gt;        &lt;dbl&gt;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EWR    UA      46087           3.48         39.7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EWR    EV      43939          17.0          49.1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JFK    B6      42076           8.89         40.8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LGA    DL      23067           3.93         45.2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JFK    DL      20701          -2.38         41.3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LGA    MQ      16928           9.33         38.3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27 more rows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tidy evaluation في سطور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2743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الحالة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الطريقة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معامل واحد يمثل عموداً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var }}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اسم العمود كنص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.data[[var]]  أو  all_of(var)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اسم عمود جديد من معامل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"{{ var }}_mean" := ...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عدة أعمدة عبر ... في data-masking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group_by(...)  أو  pick(...)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عدة أعمدة عبر ... في tidy-select</a:t>
                      </a:r>
                      <a:endParaRPr lang="ar-SA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select(...)  أو  .by = c(...)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6766560" cy="1463040"/>
          </a:xfrm>
          <a:prstGeom prst="roundRect">
            <a:avLst>
              <a:gd name="adj" fmla="val 5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4279392"/>
            <a:ext cx="6547104" cy="1316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count_prop &lt;- function(data, var, sort = TRUE) {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%&gt;% count({{ var }}, sort = sort) %&gt;% mutate(prop = n / sum(n))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 %&gt;% count_prop(origin)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98080" y="420624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07808" y="4279392"/>
            <a:ext cx="3895344" cy="1316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3 x 3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      n  prop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EWR    120835 0.359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JFK    111279 0.330</a:t>
            </a:r>
            <a:endParaRPr lang="en-US" sz="1050" dirty="0"/>
          </a:p>
          <a:p>
            <a:pPr algn="l" indent="0" marL="0">
              <a:buNone/>
            </a:pPr>
            <a:r>
              <a:rPr lang="en-US" alt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LGA    104662 0.311</a:t>
            </a:r>
            <a:endParaRPr lang="en-US" sz="10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AF0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57200"/>
            <a:ext cx="1005840" cy="1005840"/>
          </a:xfrm>
          <a:prstGeom prst="ellipse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42416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3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تمرين 6</a:t>
            </a:r>
            <a:endParaRPr lang="ar-SA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15 دقيقة · القسم السادس من ملف التمارين</a:t>
            </a:r>
            <a:endParaRPr lang="ar-SA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B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0" y="2075688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57400"/>
            <a:ext cx="9692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دالة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top_n_by(data, var, n, ...)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تعيد أعلى n صفوف حسب var داخل كل مجموعة من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ar-SA" sz="1700" dirty="0"/>
          </a:p>
        </p:txBody>
      </p:sp>
      <p:sp>
        <p:nvSpPr>
          <p:cNvPr id="10" name="Shape 8"/>
          <p:cNvSpPr/>
          <p:nvPr/>
        </p:nvSpPr>
        <p:spPr>
          <a:xfrm>
            <a:off x="10698480" y="2734056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715768"/>
            <a:ext cx="9692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باستخدام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nest()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map()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احسب لكل مطار انطلاق معامل الارتباط بين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dep_delay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arr_delay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ar-SA" sz="1700" dirty="0"/>
          </a:p>
        </p:txBody>
      </p:sp>
      <p:sp>
        <p:nvSpPr>
          <p:cNvPr id="13" name="Shape 11"/>
          <p:cNvSpPr/>
          <p:nvPr/>
        </p:nvSpPr>
        <p:spPr>
          <a:xfrm>
            <a:off x="10698480" y="3392424"/>
            <a:ext cx="411480" cy="41148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374136"/>
            <a:ext cx="9692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باستخدام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map()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أنشئ قائمة من ثلاثة رسوم (واحد لكل مطار) لتوزيع </a:t>
            </a:r>
            <a:pPr algn="r" indent="0" marL="0">
              <a:buNone/>
            </a:pPr>
            <a:r>
              <a:rPr lang="ar-SA" altLang="en-US" sz="17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dep_delay</a:t>
            </a:r>
            <a:pPr algn="r" indent="0" marL="0">
              <a:buNone/>
            </a:pPr>
            <a:r>
              <a:rPr lang="ar-SA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ar-SA" sz="17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F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280160"/>
            <a:ext cx="2194560" cy="219456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0" y="12801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المشروع الختامي</a:t>
            </a:r>
            <a:endParaRPr lang="ar-SA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شركة طيران الأكثر التزاماً بالمواعيد في 2013؟</a:t>
            </a:r>
            <a:endParaRPr lang="ar-SA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2926080" cy="640080"/>
          </a:xfrm>
          <a:prstGeom prst="roundRect">
            <a:avLst>
              <a:gd name="adj" fmla="val 50000"/>
            </a:avLst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16:30 – 17:00</a:t>
            </a:r>
            <a:endParaRPr lang="en-US" sz="2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المشروع الختامي: سلسلة واحدة من البداية إلى النهاية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11064240" y="1234440"/>
            <a:ext cx="457200" cy="45720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1188720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</a:t>
            </a:r>
            <a:endParaRPr lang="ar-SA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188720"/>
            <a:ext cx="4297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flights.csv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airlines.csv</a:t>
            </a:r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بأنواع أعمدة محددة</a:t>
            </a:r>
            <a:endParaRPr lang="ar-SA" sz="1300" dirty="0"/>
          </a:p>
        </p:txBody>
      </p:sp>
      <p:sp>
        <p:nvSpPr>
          <p:cNvPr id="8" name="Shape 6"/>
          <p:cNvSpPr/>
          <p:nvPr/>
        </p:nvSpPr>
        <p:spPr>
          <a:xfrm>
            <a:off x="11064240" y="1911096"/>
            <a:ext cx="457200" cy="45720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06424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1865376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نظف</a:t>
            </a:r>
            <a:endParaRPr lang="ar-SA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865376"/>
            <a:ext cx="4297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استبعد الملغاة وأنشئ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on_time = arr_delay &lt;= 15</a:t>
            </a:r>
            <a:endParaRPr lang="ar-SA" sz="1300" dirty="0"/>
          </a:p>
        </p:txBody>
      </p:sp>
      <p:sp>
        <p:nvSpPr>
          <p:cNvPr id="12" name="Shape 10"/>
          <p:cNvSpPr/>
          <p:nvPr/>
        </p:nvSpPr>
        <p:spPr>
          <a:xfrm>
            <a:off x="11064240" y="2587752"/>
            <a:ext cx="457200" cy="45720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0642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0" y="2542032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اربط</a:t>
            </a:r>
            <a:endParaRPr lang="ar-SA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542032"/>
            <a:ext cx="4297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الشركة وحوله لاسم قصير بـ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stringr</a:t>
            </a:r>
            <a:endParaRPr lang="ar-SA" sz="1300" dirty="0"/>
          </a:p>
        </p:txBody>
      </p:sp>
      <p:sp>
        <p:nvSpPr>
          <p:cNvPr id="16" name="Shape 14"/>
          <p:cNvSpPr/>
          <p:nvPr/>
        </p:nvSpPr>
        <p:spPr>
          <a:xfrm>
            <a:off x="11064240" y="3264408"/>
            <a:ext cx="457200" cy="45720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06424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3218688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لخص</a:t>
            </a:r>
            <a:endParaRPr lang="ar-SA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218688"/>
            <a:ext cx="4297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الالتزام وعدد الرحلات لكل شركة وشهر بـ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.by</a:t>
            </a:r>
            <a:endParaRPr lang="ar-SA" sz="1300" dirty="0"/>
          </a:p>
        </p:txBody>
      </p:sp>
      <p:sp>
        <p:nvSpPr>
          <p:cNvPr id="20" name="Shape 18"/>
          <p:cNvSpPr/>
          <p:nvPr/>
        </p:nvSpPr>
        <p:spPr>
          <a:xfrm>
            <a:off x="11064240" y="3941064"/>
            <a:ext cx="457200" cy="45720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06424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3895344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حوّل</a:t>
            </a:r>
            <a:endParaRPr lang="ar-SA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895344"/>
            <a:ext cx="4297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الملخص إلى جدول عريض (الشهور أعمدة)</a:t>
            </a:r>
            <a:endParaRPr lang="ar-SA" sz="1300" dirty="0"/>
          </a:p>
        </p:txBody>
      </p:sp>
      <p:sp>
        <p:nvSpPr>
          <p:cNvPr id="24" name="Shape 22"/>
          <p:cNvSpPr/>
          <p:nvPr/>
        </p:nvSpPr>
        <p:spPr>
          <a:xfrm>
            <a:off x="11064240" y="4617720"/>
            <a:ext cx="457200" cy="45720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0642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4572000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</a:t>
            </a:r>
            <a:endParaRPr lang="ar-SA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4572000"/>
            <a:ext cx="4297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6 شركات مع ترتيب الأسطورة بـ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fct_reorder()</a:t>
            </a:r>
            <a:endParaRPr lang="ar-SA" sz="1300" dirty="0"/>
          </a:p>
        </p:txBody>
      </p:sp>
      <p:sp>
        <p:nvSpPr>
          <p:cNvPr id="28" name="Shape 26"/>
          <p:cNvSpPr/>
          <p:nvPr/>
        </p:nvSpPr>
        <p:spPr>
          <a:xfrm>
            <a:off x="11064240" y="5294376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064240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0" y="5248656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احفظ</a:t>
            </a:r>
            <a:endParaRPr lang="ar-SA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5248656"/>
            <a:ext cx="4297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الجدول باستخدام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write_csv()</a:t>
            </a:r>
            <a:endParaRPr lang="ar-SA" sz="1300" dirty="0"/>
          </a:p>
        </p:txBody>
      </p:sp>
      <p:pic>
        <p:nvPicPr>
          <p:cNvPr id="32" name="Image 0" descr="/tmp/claude-0/-home-user-course-1-R/f25ddeba-c076-5e55-bcd3-063e95df2220/scratchpad/ppt/plot_capst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480560" cy="2523744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457200" y="3977640"/>
            <a:ext cx="4480560" cy="2194560"/>
          </a:xfrm>
          <a:prstGeom prst="roundRect">
            <a:avLst>
              <a:gd name="adj" fmla="val 3333"/>
            </a:avLst>
          </a:prstGeom>
          <a:solidFill>
            <a:srgbClr val="F3F5F9"/>
          </a:solidFill>
          <a:ln w="9525">
            <a:solidFill>
              <a:srgbClr val="D5DBE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66928" y="4050792"/>
            <a:ext cx="4261104" cy="2048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alt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tibble: 16 x 3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airline           flights p_on_time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&lt;chr&gt;               &lt;int&gt;     &lt;dbl&gt;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Hawaiian Airlines     342     0.874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Alaska Airlines       709     0.856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US Airways          19831     0.821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Virgin America       5116     0.819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Delta Air Lines     47658     0.818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American Airlines   31947     0.812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5120640" y="5943600"/>
            <a:ext cx="6492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 الكامل في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exercises/tidyverse_one_day_solutions.Rmd</a:t>
            </a:r>
            <a:endParaRPr lang="ar-SA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تعلمناه اليوم؟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384048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الوحدة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أهم الأدوات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67B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القراءة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read_csv(col_types, na), problems(), glimpse()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dplyr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across(), .by, case_when(), slice_*(), lag(), min_rank(), reframe()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tidyr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pivot_longer(names_to = c(".value", ...)), pivot_wider(), complete(), fill(), nest()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الربط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join_by(), relationship, unmatched, inequality joins, closest()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النصوص والعوامل والتواريخ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str_*(), regex, fct_reorder(), fct_lump_n(), make_datetime(), floor_date()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purrr</a:t>
                      </a:r>
                      <a:endParaRPr lang="ar-SA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map_*(), nest() + map(), walk2(), {{ }}, :=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1EA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1400" dirty="0">
                <a:solidFill>
                  <a:srgbClr val="9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الذهبية: كل خطوة تأخذ جدولاً وتعيد جدولاً. إذا صعب عليك سؤال، قسّمه إلى خطوات أصغر بهذا الشكل.</a:t>
            </a:r>
            <a:endParaRPr lang="ar-SA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بعد؟ مراجع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· المستوى المتوسط</a:t>
            </a:r>
            <a:endParaRPr lang="ar-SA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for Data Science (2e)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r4ds.hadley.nz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18872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80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dplyr 1.1 joins blog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tidyverse.org/blog/2023/02/dplyr-1-1-0-joins/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514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tidyr pivot vignette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926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tidyr.tidyverse.org/articles/pivot.html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42316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2514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purrr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926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purrr.tidyverse.org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749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with dplyr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60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dplyr.tidyverse.org/articles/programming.html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65760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EAF0F9"/>
          </a:solidFill>
          <a:ln w="12700">
            <a:solidFill>
              <a:srgbClr val="EAF0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3749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Cheat sheets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4160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posit.co/resources/cheatsheets/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الدورة التالية: النمذجة باستخدام </a:t>
            </a:r>
            <a:pPr algn="r" indent="0" marL="0">
              <a:buNone/>
            </a:pPr>
            <a:r>
              <a:rPr lang="ar-SA" altLang="en-US" sz="1600" b="1" dirty="0">
                <a:solidFill>
                  <a:srgbClr val="34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tidymodels</a:t>
            </a:r>
            <a:pPr algn="r" indent="0" marL="0">
              <a:buNone/>
            </a:pPr>
            <a:r>
              <a:rPr lang="ar-SA" altLang="en-US" sz="1600" b="1" dirty="0">
                <a:solidFill>
                  <a:srgbClr val="2F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وكتابة التقارير باستخدام Quarto.</a:t>
            </a:r>
            <a:endParaRPr lang="ar-SA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2F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5029200" cy="5029200"/>
          </a:xfrm>
          <a:prstGeom prst="ellipse">
            <a:avLst/>
          </a:prstGeom>
          <a:solidFill>
            <a:srgbClr val="3467B0"/>
          </a:solidFill>
          <a:ln w="12700">
            <a:solidFill>
              <a:srgbClr val="346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194560"/>
            <a:ext cx="822960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5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لكم</a:t>
            </a:r>
            <a:endParaRPr lang="ar-SA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ar-SA" alt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الأسئلة والنقاش</a:t>
            </a:r>
            <a:endParaRPr lang="ar-SA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التعامل مع البيانات باستخدام tidyverse</dc:title>
  <dc:subject>PptxGenJS Presentation</dc:subject>
  <dc:creator>PptxGenJS</dc:creator>
  <cp:lastModifiedBy>PptxGenJS</cp:lastModifiedBy>
  <cp:revision>1</cp:revision>
  <dcterms:created xsi:type="dcterms:W3CDTF">2026-09-02T08:45:53Z</dcterms:created>
  <dcterms:modified xsi:type="dcterms:W3CDTF">2026-09-02T08:45:53Z</dcterms:modified>
</cp:coreProperties>
</file>